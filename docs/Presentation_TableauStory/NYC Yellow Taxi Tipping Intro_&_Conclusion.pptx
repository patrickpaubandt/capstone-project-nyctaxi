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322" r:id="rId5"/>
    <p:sldId id="318" r:id="rId6"/>
    <p:sldId id="324" r:id="rId7"/>
    <p:sldId id="325" r:id="rId8"/>
    <p:sldId id="326" r:id="rId9"/>
    <p:sldId id="328" r:id="rId10"/>
    <p:sldId id="329" r:id="rId11"/>
    <p:sldId id="327" r:id="rId12"/>
    <p:sldId id="330" r:id="rId13"/>
  </p:sldIdLst>
  <p:sldSz cx="12192000" cy="6858000"/>
  <p:notesSz cx="6858000" cy="9144000"/>
  <p:defaultTextStyle>
    <a:defPPr rtl="0">
      <a:defRPr lang="de-DE"/>
    </a:defPPr>
    <a:lvl1pPr marL="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8696B"/>
    <a:srgbClr val="16253D"/>
    <a:srgbClr val="EFB509"/>
    <a:srgbClr val="95B8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E3FDE45-AF77-4B5C-9715-49D594BDF05E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844" autoAdjust="0"/>
    <p:restoredTop sz="95388" autoAdjust="0"/>
  </p:normalViewPr>
  <p:slideViewPr>
    <p:cSldViewPr snapToGrid="0">
      <p:cViewPr varScale="1">
        <p:scale>
          <a:sx n="110" d="100"/>
          <a:sy n="110" d="100"/>
        </p:scale>
        <p:origin x="120" y="348"/>
      </p:cViewPr>
      <p:guideLst/>
    </p:cSldViewPr>
  </p:slideViewPr>
  <p:outlineViewPr>
    <p:cViewPr>
      <p:scale>
        <a:sx n="33" d="100"/>
        <a:sy n="33" d="100"/>
      </p:scale>
      <p:origin x="0" y="-777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80" d="100"/>
          <a:sy n="80" d="100"/>
        </p:scale>
        <p:origin x="4014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51A50702-3C68-4B14-B819-72B57D27F94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de-DE" sz="1200"/>
            </a:lvl1pPr>
          </a:lstStyle>
          <a:p>
            <a:pPr rtl="0"/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F0F4880-E690-44D0-8356-A9E7BDBAB0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de-DE" sz="1200"/>
            </a:lvl1pPr>
          </a:lstStyle>
          <a:p>
            <a:pPr rtl="0"/>
            <a:fld id="{B045831F-6AD1-4DED-BF09-35BFE3A3C66F}" type="datetime1">
              <a:rPr lang="de-DE" smtClean="0"/>
              <a:t>24.02.2026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6B4ACF6-39FD-4B08-A7D5-5BFDC37B462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de-DE" sz="1200"/>
            </a:lvl1pPr>
          </a:lstStyle>
          <a:p>
            <a:pPr rtl="0"/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F7C9FD2-2C57-4DE7-8EA4-86DEE80B988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de-DE" sz="1200"/>
            </a:lvl1pPr>
          </a:lstStyle>
          <a:p>
            <a:pPr rtl="0"/>
            <a:fld id="{00AC623C-86E0-4A85-83FB-F4A716956FD4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939555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de-DE" sz="1200"/>
            </a:lvl1pPr>
          </a:lstStyle>
          <a:p>
            <a:pPr rtl="0"/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de-DE" sz="1200"/>
            </a:lvl1pPr>
          </a:lstStyle>
          <a:p>
            <a:fld id="{4EAF0040-DFA1-4580-86F0-5CFB9E4596B0}" type="datetime1">
              <a:rPr lang="de-DE" smtClean="0"/>
              <a:pPr/>
              <a:t>24.02.2026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de-DE"/>
            </a:defPPr>
          </a:lstStyle>
          <a:p>
            <a:pPr lvl="0" rtl="0"/>
            <a:r>
              <a:rPr lang="de-DE"/>
              <a:t>Textmasterformat durch Klicken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de-DE" sz="1200"/>
            </a:lvl1pPr>
          </a:lstStyle>
          <a:p>
            <a:pPr rtl="0"/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de-DE" sz="1200"/>
            </a:lvl1pPr>
          </a:lstStyle>
          <a:p>
            <a:pPr rtl="0"/>
            <a:fld id="{C37D7554-D10C-4E29-B8E6-BB7111FA614F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17347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C37D7554-D10C-4E29-B8E6-BB7111FA614F}" type="slidenum">
              <a:rPr lang="de-DE" smtClean="0"/>
              <a:t>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123426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C37D7554-D10C-4E29-B8E6-BB7111FA614F}" type="slidenum">
              <a:rPr lang="de-DE" smtClean="0"/>
              <a:t>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235037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C37D7554-D10C-4E29-B8E6-BB7111FA614F}" type="slidenum">
              <a:rPr lang="de-DE" smtClean="0"/>
              <a:t>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645615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C37D7554-D10C-4E29-B8E6-BB7111FA614F}" type="slidenum">
              <a:rPr lang="de-DE" smtClean="0"/>
              <a:t>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965334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C37D7554-D10C-4E29-B8E6-BB7111FA614F}" type="slidenum">
              <a:rPr lang="de-DE" smtClean="0"/>
              <a:t>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016957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C37D7554-D10C-4E29-B8E6-BB7111FA614F}" type="slidenum">
              <a:rPr lang="de-DE" smtClean="0"/>
              <a:t>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7624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C37D7554-D10C-4E29-B8E6-BB7111FA614F}" type="slidenum">
              <a:rPr lang="de-DE" smtClean="0"/>
              <a:t>7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889215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C37D7554-D10C-4E29-B8E6-BB7111FA614F}" type="slidenum">
              <a:rPr lang="de-DE" smtClean="0"/>
              <a:t>8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630678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C37D7554-D10C-4E29-B8E6-BB7111FA614F}" type="slidenum">
              <a:rPr lang="de-DE" smtClean="0"/>
              <a:t>9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340630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hteck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5" y="690511"/>
            <a:ext cx="5185821" cy="5253089"/>
          </a:xfrm>
        </p:spPr>
        <p:txBody>
          <a:bodyPr rtlCol="0" anchor="b">
            <a:normAutofit/>
          </a:bodyPr>
          <a:lstStyle>
            <a:lvl1pPr>
              <a:defRPr lang="de-DE" sz="6000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</p:spTree>
    <p:extLst>
      <p:ext uri="{BB962C8B-B14F-4D97-AF65-F5344CB8AC3E}">
        <p14:creationId xmlns:p14="http://schemas.microsoft.com/office/powerpoint/2010/main" val="1784555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55583" y="737115"/>
            <a:ext cx="4640418" cy="5407091"/>
          </a:xfrm>
        </p:spPr>
        <p:txBody>
          <a:bodyPr lIns="0" rtlCol="0">
            <a:normAutofit/>
          </a:bodyPr>
          <a:lstStyle>
            <a:lvl1pPr>
              <a:defRPr lang="de-DE" sz="36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2" name="Inhaltsplatzhalt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388461" y="737115"/>
            <a:ext cx="4449712" cy="5407091"/>
          </a:xfrm>
        </p:spPr>
        <p:txBody>
          <a:bodyPr lIns="0" tIns="0" rIns="0" bIns="0" rtlCol="0" anchor="ctr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2000"/>
            </a:lvl5pPr>
          </a:lstStyle>
          <a:p>
            <a:pPr lvl="0" rtl="0"/>
            <a:r>
              <a:rPr lang="de-DE"/>
              <a:t>Klicken, um Inhalt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hteck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  <p:sp>
        <p:nvSpPr>
          <p:cNvPr id="9" name="Foliennummernplatzhalter 5">
            <a:extLst>
              <a:ext uri="{FF2B5EF4-FFF2-40B4-BE49-F238E27FC236}">
                <a16:creationId xmlns:a16="http://schemas.microsoft.com/office/drawing/2014/main" id="{4E9F5D75-1D8F-F695-81F8-4A6D0C67821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fld id="{18D65601-5AE2-46FC-B138-694DDD2B510D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77245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Bild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1278294"/>
            <a:ext cx="5000318" cy="4904141"/>
          </a:xfrm>
        </p:spPr>
        <p:txBody>
          <a:bodyPr rtlCol="0" anchor="b">
            <a:normAutofit/>
          </a:bodyPr>
          <a:lstStyle>
            <a:lvl1pPr>
              <a:defRPr lang="de-DE" sz="36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42169" y="-1"/>
            <a:ext cx="4635426" cy="6857999"/>
          </a:xfrm>
        </p:spPr>
        <p:txBody>
          <a:bodyPr rtlCol="0">
            <a:normAutofit/>
          </a:bodyPr>
          <a:lstStyle>
            <a:lvl1pPr marL="0" indent="0" algn="ctr">
              <a:buNone/>
              <a:defRPr lang="de-DE" sz="2000"/>
            </a:lvl1pPr>
          </a:lstStyle>
          <a:p>
            <a:pPr rtl="0"/>
            <a:r>
              <a:rPr lang="de-DE"/>
              <a:t>Bild durch Klicken auf Symbol hinzufügen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9029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Untertitel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3508311"/>
            <a:ext cx="9923770" cy="1438762"/>
          </a:xfrm>
        </p:spPr>
        <p:txBody>
          <a:bodyPr rtlCol="0" anchor="b">
            <a:normAutofit/>
          </a:bodyPr>
          <a:lstStyle>
            <a:lvl1pPr>
              <a:defRPr lang="de-DE" sz="36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5600" y="0"/>
            <a:ext cx="10361995" cy="3429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de-DE" sz="2000"/>
            </a:lvl1pPr>
          </a:lstStyle>
          <a:p>
            <a:pPr rtl="0"/>
            <a:r>
              <a:rPr lang="de-DE"/>
              <a:t>Bild durch Klicken auf Symbol hinzufügen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platzhalter 12">
            <a:extLst>
              <a:ext uri="{FF2B5EF4-FFF2-40B4-BE49-F238E27FC236}">
                <a16:creationId xmlns:a16="http://schemas.microsoft.com/office/drawing/2014/main" id="{D179113D-0374-3934-841E-56AD5AFCF9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53828" y="5228488"/>
            <a:ext cx="9923770" cy="1368256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lang="de-DE"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de-DE"/>
              <a:t>Untertitel durch Klicken hinzufügen</a:t>
            </a:r>
          </a:p>
        </p:txBody>
      </p:sp>
    </p:spTree>
    <p:extLst>
      <p:ext uri="{BB962C8B-B14F-4D97-AF65-F5344CB8AC3E}">
        <p14:creationId xmlns:p14="http://schemas.microsoft.com/office/powerpoint/2010/main" val="3227224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5" y="503852"/>
            <a:ext cx="9150675" cy="1427585"/>
          </a:xfrm>
        </p:spPr>
        <p:txBody>
          <a:bodyPr lIns="0" rtlCol="0">
            <a:normAutofit/>
          </a:bodyPr>
          <a:lstStyle>
            <a:lvl1pPr>
              <a:defRPr lang="de-DE" sz="36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2" name="Inhaltsplatzhalt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50153" y="2108722"/>
            <a:ext cx="8552264" cy="4119463"/>
          </a:xfrm>
        </p:spPr>
        <p:txBody>
          <a:bodyPr lIns="0" tIns="0" rIns="0" bIns="0" rtlCol="0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2000"/>
            </a:lvl5pPr>
          </a:lstStyle>
          <a:p>
            <a:pPr lvl="0" rtl="0"/>
            <a:r>
              <a:rPr lang="de-DE"/>
              <a:t>Klicken, um Inhalt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hteck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  <p:sp>
        <p:nvSpPr>
          <p:cNvPr id="9" name="Foliennummernplatzhalter 5">
            <a:extLst>
              <a:ext uri="{FF2B5EF4-FFF2-40B4-BE49-F238E27FC236}">
                <a16:creationId xmlns:a16="http://schemas.microsoft.com/office/drawing/2014/main" id="{5DABAFC1-3E76-DCE6-3A6D-E0020C5BE8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fld id="{18D65601-5AE2-46FC-B138-694DDD2B510D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73596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titel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507175C5-CB2F-2BAC-3704-54DCD1BF04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8031" y="1068169"/>
            <a:ext cx="10115939" cy="2681549"/>
          </a:xfrm>
        </p:spPr>
        <p:txBody>
          <a:bodyPr rtlCol="0" anchor="b"/>
          <a:lstStyle>
            <a:lvl1pPr algn="ctr">
              <a:defRPr lang="de-DE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3901905E-33E7-852F-94E3-8E100B3D1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4400" y="914400"/>
            <a:ext cx="10363200" cy="502920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1B7799F7-CBB1-9649-7D06-F7EEFD4F0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B1AFC5CA-DB29-4B8C-C004-72E4EC761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  <p:sp>
        <p:nvSpPr>
          <p:cNvPr id="9" name="Textplatzhalter 12">
            <a:extLst>
              <a:ext uri="{FF2B5EF4-FFF2-40B4-BE49-F238E27FC236}">
                <a16:creationId xmlns:a16="http://schemas.microsoft.com/office/drawing/2014/main" id="{E3CB2D2A-7172-87CE-D493-DAF52D62EB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8031" y="4027047"/>
            <a:ext cx="10115939" cy="1762783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lang="de-DE" sz="200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de-DE"/>
              <a:t>Untertitel durch Klicken hinzufügen</a:t>
            </a:r>
          </a:p>
        </p:txBody>
      </p:sp>
    </p:spTree>
    <p:extLst>
      <p:ext uri="{BB962C8B-B14F-4D97-AF65-F5344CB8AC3E}">
        <p14:creationId xmlns:p14="http://schemas.microsoft.com/office/powerpoint/2010/main" val="2069536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2 Inhalte 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 rtlCol="0">
            <a:normAutofit/>
          </a:bodyPr>
          <a:lstStyle>
            <a:lvl1pPr>
              <a:defRPr lang="de-DE" sz="36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2" name="Inhaltsplatzhalt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4" y="2057401"/>
            <a:ext cx="4627186" cy="4119463"/>
          </a:xfrm>
        </p:spPr>
        <p:txBody>
          <a:bodyPr l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lang="de-DE" sz="2000"/>
            </a:lvl1pPr>
            <a:lvl2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2000"/>
            </a:lvl5pPr>
          </a:lstStyle>
          <a:p>
            <a:pPr lvl="0" rtl="0"/>
            <a:r>
              <a:rPr lang="de-DE"/>
              <a:t>Klicken, um Inhalt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12" name="Inhaltsplatzhalt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668185" y="2057401"/>
            <a:ext cx="4609399" cy="4119463"/>
          </a:xfrm>
        </p:spPr>
        <p:txBody>
          <a:bodyPr l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lang="de-DE"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2000"/>
            </a:lvl5pPr>
          </a:lstStyle>
          <a:p>
            <a:pPr lvl="0" rtl="0"/>
            <a:r>
              <a:rPr lang="de-DE"/>
              <a:t>Klicken, um Inhalt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liennummernplatzhalter 5">
            <a:extLst>
              <a:ext uri="{FF2B5EF4-FFF2-40B4-BE49-F238E27FC236}">
                <a16:creationId xmlns:a16="http://schemas.microsoft.com/office/drawing/2014/main" id="{1D40DF0B-6602-19D4-3110-4659C28780D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fld id="{18D65601-5AE2-46FC-B138-694DDD2B510D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61720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2 Inhalte 3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 rtlCol="0">
            <a:normAutofit/>
          </a:bodyPr>
          <a:lstStyle>
            <a:lvl1pPr>
              <a:defRPr lang="de-DE" sz="36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4" name="Inhaltsplatzhalter 7">
            <a:extLst>
              <a:ext uri="{FF2B5EF4-FFF2-40B4-BE49-F238E27FC236}">
                <a16:creationId xmlns:a16="http://schemas.microsoft.com/office/drawing/2014/main" id="{C355854D-70C0-E6E1-2A0C-284D00A21AE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5" y="2057401"/>
            <a:ext cx="3068678" cy="4119463"/>
          </a:xfrm>
        </p:spPr>
        <p:txBody>
          <a:bodyPr lIns="0" rtlCol="0">
            <a:normAutofit/>
          </a:bodyPr>
          <a:lstStyle>
            <a:lvl1pPr marL="32004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lang="de-DE" sz="2000"/>
            </a:lvl1pPr>
            <a:lvl2pPr marL="457200" indent="-32004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+mj-lt"/>
              <a:buAutoNum type="alphaLcPeriod"/>
              <a:defRPr lang="de-DE" sz="2000"/>
            </a:lvl2pPr>
            <a:lvl3pPr marL="9144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rabicParenR"/>
              <a:defRPr lang="de-DE" sz="2000"/>
            </a:lvl3pPr>
            <a:lvl4pPr marL="13716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lphaLcParenR"/>
              <a:defRPr lang="de-DE" sz="2000"/>
            </a:lvl4pPr>
            <a:lvl5pPr marL="1828800" indent="-320040">
              <a:spcBef>
                <a:spcPts val="1000"/>
              </a:spcBef>
              <a:spcAft>
                <a:spcPts val="1200"/>
              </a:spcAft>
              <a:buFont typeface="+mj-lt"/>
              <a:buAutoNum type="romanLcPeriod"/>
              <a:defRPr lang="de-DE" sz="2000"/>
            </a:lvl5pPr>
          </a:lstStyle>
          <a:p>
            <a:pPr lvl="0" rtl="0"/>
            <a:r>
              <a:rPr lang="de-DE"/>
              <a:t>Klicken, um Inhalt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12" name="Inhaltsplatzhalt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91727" y="2057401"/>
            <a:ext cx="6085857" cy="4119463"/>
          </a:xfrm>
        </p:spPr>
        <p:txBody>
          <a:bodyPr l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lang="de-DE"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2000"/>
            </a:lvl5pPr>
          </a:lstStyle>
          <a:p>
            <a:pPr lvl="0" rtl="0"/>
            <a:r>
              <a:rPr lang="de-DE"/>
              <a:t>Klicken, um Inhalt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liennummernplatzhalter 5">
            <a:extLst>
              <a:ext uri="{FF2B5EF4-FFF2-40B4-BE49-F238E27FC236}">
                <a16:creationId xmlns:a16="http://schemas.microsoft.com/office/drawing/2014/main" id="{D7B331F9-6D4A-5020-969F-E961AF374E1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fld id="{18D65601-5AE2-46FC-B138-694DDD2B510D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14237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bild und Inhalt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 rtlCol="0">
            <a:normAutofit/>
          </a:bodyPr>
          <a:lstStyle>
            <a:lvl1pPr>
              <a:defRPr lang="de-DE" sz="36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357912CB-B8F8-1E65-094F-AD3220E6C79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03363" y="2061969"/>
            <a:ext cx="4592637" cy="4805362"/>
          </a:xfrm>
        </p:spPr>
        <p:txBody>
          <a:bodyPr rtlCol="0">
            <a:normAutofit/>
          </a:bodyPr>
          <a:lstStyle>
            <a:lvl1pPr marL="0" indent="0" algn="ctr">
              <a:buNone/>
              <a:defRPr lang="de-DE" sz="2000"/>
            </a:lvl1pPr>
          </a:lstStyle>
          <a:p>
            <a:pPr rtl="0"/>
            <a:r>
              <a:rPr lang="de-DE"/>
              <a:t>Bild durch Klicken auf Symbol hinzufügen</a:t>
            </a:r>
          </a:p>
        </p:txBody>
      </p:sp>
      <p:sp>
        <p:nvSpPr>
          <p:cNvPr id="12" name="Inhaltsplatzhalt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787262" y="2052736"/>
            <a:ext cx="4490320" cy="4800598"/>
          </a:xfrm>
        </p:spPr>
        <p:txBody>
          <a:bodyPr l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lang="de-DE" sz="2000"/>
            </a:lvl1pPr>
            <a:lvl2pPr marL="800100" indent="-3429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2000"/>
            </a:lvl2pPr>
            <a:lvl3pPr marL="12573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2000"/>
            </a:lvl3pPr>
            <a:lvl4pPr marL="17145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2000"/>
            </a:lvl4pPr>
            <a:lvl5pPr marL="21717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2000"/>
            </a:lvl5pPr>
          </a:lstStyle>
          <a:p>
            <a:pPr lvl="0" rtl="0"/>
            <a:r>
              <a:rPr lang="de-DE"/>
              <a:t>Klicken, um Inhalt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2" name="Foliennummernplatzhalter 5">
            <a:extLst>
              <a:ext uri="{FF2B5EF4-FFF2-40B4-BE49-F238E27FC236}">
                <a16:creationId xmlns:a16="http://schemas.microsoft.com/office/drawing/2014/main" id="{8809D86D-3DDE-CA24-4CAA-DF6944B9BCB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fld id="{18D65601-5AE2-46FC-B138-694DDD2B510D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6107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inhalt und Tabel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 rtlCol="0">
            <a:normAutofit/>
          </a:bodyPr>
          <a:lstStyle>
            <a:lvl1pPr>
              <a:defRPr lang="de-DE" sz="36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12" name="Inhaltsplatzhalt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468814" y="2057400"/>
            <a:ext cx="3091027" cy="3867538"/>
          </a:xfrm>
        </p:spPr>
        <p:txBody>
          <a:bodyPr l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de-DE" sz="2000"/>
            </a:lvl1pPr>
            <a:lvl2pPr marL="800100" indent="-3429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2000"/>
            </a:lvl2pPr>
            <a:lvl3pPr marL="12573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2000"/>
            </a:lvl3pPr>
            <a:lvl4pPr marL="17145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2000"/>
            </a:lvl4pPr>
            <a:lvl5pPr marL="21717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2000"/>
            </a:lvl5pPr>
          </a:lstStyle>
          <a:p>
            <a:pPr lvl="0" rtl="0"/>
            <a:r>
              <a:rPr lang="de-DE"/>
              <a:t>Klicken, um Inhalt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14" name="Tabellenplatzhalter 13">
            <a:extLst>
              <a:ext uri="{FF2B5EF4-FFF2-40B4-BE49-F238E27FC236}">
                <a16:creationId xmlns:a16="http://schemas.microsoft.com/office/drawing/2014/main" id="{EA708189-1532-1BDD-104F-4D8556146CEE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5097463" y="2051976"/>
            <a:ext cx="6180137" cy="3867538"/>
          </a:xfrm>
        </p:spPr>
        <p:txBody>
          <a:bodyPr rtlCol="0">
            <a:normAutofit/>
          </a:bodyPr>
          <a:lstStyle>
            <a:lvl1pPr>
              <a:defRPr lang="de-DE" sz="2000"/>
            </a:lvl1pPr>
          </a:lstStyle>
          <a:p>
            <a:pPr rtl="0"/>
            <a:r>
              <a:rPr lang="de-DE"/>
              <a:t>Tabelle durch Klicken auf Symbol hinzufügen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oliennummernplatzhalter 5">
            <a:extLst>
              <a:ext uri="{FF2B5EF4-FFF2-40B4-BE49-F238E27FC236}">
                <a16:creationId xmlns:a16="http://schemas.microsoft.com/office/drawing/2014/main" id="{6E0EC71B-95A1-C740-6B1F-F8DF02E2D1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fld id="{18D65601-5AE2-46FC-B138-694DDD2B510D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09299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2 Inhalte 2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el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 rtlCol="0">
            <a:normAutofit/>
          </a:bodyPr>
          <a:lstStyle>
            <a:lvl1pPr>
              <a:defRPr lang="de-DE" sz="36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8B0AB10A-3CAB-D4C0-3CB1-401461802B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468814" y="2066731"/>
            <a:ext cx="6452876" cy="3867538"/>
          </a:xfrm>
        </p:spPr>
        <p:txBody>
          <a:bodyPr lIns="0" rtlCol="0">
            <a:norm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lang="de-DE" sz="2000"/>
            </a:lvl1pPr>
            <a:lvl2pPr>
              <a:lnSpc>
                <a:spcPct val="100000"/>
              </a:lnSpc>
              <a:spcAft>
                <a:spcPts val="600"/>
              </a:spcAft>
              <a:defRPr lang="de-DE" sz="2000"/>
            </a:lvl2pPr>
            <a:lvl3pPr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defRPr lang="de-DE" sz="2000"/>
            </a:lvl3pPr>
            <a:lvl4pPr>
              <a:lnSpc>
                <a:spcPct val="100000"/>
              </a:lnSpc>
              <a:spcAft>
                <a:spcPts val="1200"/>
              </a:spcAft>
              <a:defRPr lang="de-DE" sz="2000"/>
            </a:lvl4pPr>
            <a:lvl5pPr>
              <a:defRPr lang="de-DE" sz="2000"/>
            </a:lvl5pPr>
          </a:lstStyle>
          <a:p>
            <a:pPr lvl="0" rtl="0"/>
            <a:r>
              <a:rPr lang="de-DE"/>
              <a:t>Klicken, um Inhalt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11" name="Inhaltsplatzhalter 7">
            <a:extLst>
              <a:ext uri="{FF2B5EF4-FFF2-40B4-BE49-F238E27FC236}">
                <a16:creationId xmlns:a16="http://schemas.microsoft.com/office/drawing/2014/main" id="{7DBA8ADB-B20F-8404-46AB-AF67E25C7C7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169196" y="2066731"/>
            <a:ext cx="3108391" cy="3867538"/>
          </a:xfrm>
        </p:spPr>
        <p:txBody>
          <a:bodyPr lIns="0" rtlCol="0"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lang="de-DE" sz="2000"/>
            </a:lvl1pPr>
            <a:lvl2pPr marL="800100" indent="-3429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lang="de-DE" sz="2000"/>
            </a:lvl2pPr>
            <a:lvl3pPr marL="1257300" indent="-342900">
              <a:buFont typeface="Arial" panose="020B0604020202020204" pitchFamily="34" charset="0"/>
              <a:buChar char="•"/>
              <a:defRPr lang="de-DE" sz="2000"/>
            </a:lvl3pPr>
            <a:lvl4pPr marL="1714500" indent="-342900">
              <a:buFont typeface="Arial" panose="020B0604020202020204" pitchFamily="34" charset="0"/>
              <a:buChar char="•"/>
              <a:defRPr lang="de-DE" sz="2000"/>
            </a:lvl4pPr>
            <a:lvl5pPr marL="2171700" indent="-342900">
              <a:buFont typeface="Arial" panose="020B0604020202020204" pitchFamily="34" charset="0"/>
              <a:buChar char="•"/>
              <a:defRPr lang="de-DE" sz="2000"/>
            </a:lvl5pPr>
          </a:lstStyle>
          <a:p>
            <a:pPr lvl="0" rtl="0"/>
            <a:r>
              <a:rPr lang="de-DE"/>
              <a:t>Klicken, um Inhalt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2" name="Foliennummernplatzhalter 5">
            <a:extLst>
              <a:ext uri="{FF2B5EF4-FFF2-40B4-BE49-F238E27FC236}">
                <a16:creationId xmlns:a16="http://schemas.microsoft.com/office/drawing/2014/main" id="{8814D5F7-E70A-5F97-5C8F-95B9E1B6D49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fld id="{18D65601-5AE2-46FC-B138-694DDD2B510D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52814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Tabel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el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 rtlCol="0">
            <a:normAutofit/>
          </a:bodyPr>
          <a:lstStyle>
            <a:lvl1pPr>
              <a:defRPr lang="de-DE" sz="36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9" name="Tabellenplatzhalter 8">
            <a:extLst>
              <a:ext uri="{FF2B5EF4-FFF2-40B4-BE49-F238E27FC236}">
                <a16:creationId xmlns:a16="http://schemas.microsoft.com/office/drawing/2014/main" id="{CB43608F-0A38-CF4A-4B3B-F1212E786FDE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1487488" y="2057400"/>
            <a:ext cx="9790112" cy="3886200"/>
          </a:xfrm>
        </p:spPr>
        <p:txBody>
          <a:bodyPr rtlCol="0">
            <a:normAutofit/>
          </a:bodyPr>
          <a:lstStyle>
            <a:lvl1pPr>
              <a:defRPr lang="de-DE" sz="2400"/>
            </a:lvl1pPr>
          </a:lstStyle>
          <a:p>
            <a:pPr rtl="0"/>
            <a:r>
              <a:rPr lang="de-DE"/>
              <a:t>Tabelle durch Klicken auf Symbol hinzufügen</a:t>
            </a:r>
          </a:p>
        </p:txBody>
      </p:sp>
      <p:sp>
        <p:nvSpPr>
          <p:cNvPr id="2" name="Foliennummernplatzhalter 5">
            <a:extLst>
              <a:ext uri="{FF2B5EF4-FFF2-40B4-BE49-F238E27FC236}">
                <a16:creationId xmlns:a16="http://schemas.microsoft.com/office/drawing/2014/main" id="{05DA3688-07D1-82D9-6818-C95E9A69C2F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fld id="{18D65601-5AE2-46FC-B138-694DDD2B510D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913572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elen Dank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hteck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4" y="690511"/>
            <a:ext cx="4964671" cy="5253089"/>
          </a:xfrm>
        </p:spPr>
        <p:txBody>
          <a:bodyPr rtlCol="0" anchor="b">
            <a:normAutofit/>
          </a:bodyPr>
          <a:lstStyle>
            <a:lvl1pPr>
              <a:defRPr lang="de-DE" sz="6000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AD608249-3D60-D3B2-68C5-778D0EA18F2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2286" y="690465"/>
            <a:ext cx="4784372" cy="5253089"/>
          </a:xfrm>
        </p:spPr>
        <p:txBody>
          <a:bodyPr rtlCol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de-DE" sz="2000">
                <a:solidFill>
                  <a:schemeClr val="bg1"/>
                </a:solidFill>
              </a:defRPr>
            </a:lvl1pPr>
            <a:lvl2pPr marL="7429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1800">
                <a:solidFill>
                  <a:schemeClr val="bg1"/>
                </a:solidFill>
              </a:defRPr>
            </a:lvl2pPr>
            <a:lvl3pPr marL="12001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1600">
                <a:solidFill>
                  <a:schemeClr val="bg1"/>
                </a:solidFill>
              </a:defRPr>
            </a:lvl3pPr>
            <a:lvl4pPr marL="16573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1400">
                <a:solidFill>
                  <a:schemeClr val="bg1"/>
                </a:solidFill>
              </a:defRPr>
            </a:lvl4pPr>
            <a:lvl5pPr marL="21145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14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de-DE"/>
              <a:t>Klicken, um Inhalt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643748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0B82F216-62F1-7E0B-63FD-51C27CDAA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de-DE"/>
            </a:defPPr>
          </a:lstStyle>
          <a:p>
            <a:pPr rtl="0"/>
            <a:r>
              <a:rPr lang="de-DE"/>
              <a:t>Titelmasterformat durch Klicken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E61F31D-B959-2AD8-9208-FF08B574D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de-DE"/>
            </a:defPPr>
          </a:lstStyle>
          <a:p>
            <a:pPr lvl="0" rtl="0"/>
            <a:r>
              <a:rPr lang="de-DE"/>
              <a:t>Textmasterformat durch Klicken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F32C8C7-5C6C-400B-AEC0-4D8178161B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de-DE"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pPr rtl="0"/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B7105D6-7B52-4B7D-9473-BCD571A93A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de-DE"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pPr rtl="0"/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13EAA0A-7090-4FA3-AD1C-CD45704040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2136" y="5943601"/>
            <a:ext cx="968983" cy="6519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de-DE" sz="1200" b="1" spc="150" baseline="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fld id="{18D65601-5AE2-46FC-B138-694DDD2B510D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37433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3" r:id="rId2"/>
    <p:sldLayoutId id="2147483692" r:id="rId3"/>
    <p:sldLayoutId id="2147483691" r:id="rId4"/>
    <p:sldLayoutId id="2147483690" r:id="rId5"/>
    <p:sldLayoutId id="2147483689" r:id="rId6"/>
    <p:sldLayoutId id="2147483688" r:id="rId7"/>
    <p:sldLayoutId id="2147483687" r:id="rId8"/>
    <p:sldLayoutId id="2147483686" r:id="rId9"/>
    <p:sldLayoutId id="2147483685" r:id="rId10"/>
    <p:sldLayoutId id="2147483684" r:id="rId11"/>
    <p:sldLayoutId id="2147483682" r:id="rId12"/>
    <p:sldLayoutId id="214748368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de-DE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de-DE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hyperlink" Target="https://www.neuefische.de/" TargetMode="External"/><Relationship Id="rId7" Type="http://schemas.openxmlformats.org/officeDocument/2006/relationships/hyperlink" Target="https://data.cityofnewyork.us/Business/Business-Improvement-Districts/7jdm-inj8/about_data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d37ci6vzurychx.cloudfront.net/misc/taxi_zone_lookup.csv" TargetMode="External"/><Relationship Id="rId5" Type="http://schemas.openxmlformats.org/officeDocument/2006/relationships/hyperlink" Target="https://www.nyc.gov/site/tlc/about/tlc-trip-record-data.page" TargetMode="External"/><Relationship Id="rId4" Type="http://schemas.openxmlformats.org/officeDocument/2006/relationships/hyperlink" Target="https://github.com/PatrickPaubandt/Capstone-project-NYCTaxi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625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454C9E-20FB-B999-9303-C71D1334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3827" y="3508311"/>
            <a:ext cx="9923770" cy="1438762"/>
          </a:xfrm>
        </p:spPr>
        <p:txBody>
          <a:bodyPr rtlCol="0" anchor="b">
            <a:normAutofit/>
          </a:bodyPr>
          <a:lstStyle>
            <a:defPPr>
              <a:defRPr lang="de-DE"/>
            </a:defPPr>
          </a:lstStyle>
          <a:p>
            <a:pPr rtl="0"/>
            <a:r>
              <a:rPr lang="de-DE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NYC Yellow Taxi Tipping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D36B95E-AC92-19B9-4FFE-B2AFB6B94F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53828" y="5228488"/>
            <a:ext cx="9923770" cy="1368256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How does trip-size and friction affect tipping behavior in NYC yellow taxis?</a:t>
            </a:r>
          </a:p>
        </p:txBody>
      </p:sp>
      <p:pic>
        <p:nvPicPr>
          <p:cNvPr id="10" name="Bildplatzhalter 9" descr="Ein Bild, das Gebäude, draußen, Fahrzeug, Landfahrzeug enthält.&#10;&#10;KI-generierte Inhalte können fehlerhaft sein.">
            <a:extLst>
              <a:ext uri="{FF2B5EF4-FFF2-40B4-BE49-F238E27FC236}">
                <a16:creationId xmlns:a16="http://schemas.microsoft.com/office/drawing/2014/main" id="{19757D61-979A-5EAD-0683-288340BB0B8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-388" t="49618" r="388" b="670"/>
          <a:stretch/>
        </p:blipFill>
        <p:spPr>
          <a:xfrm>
            <a:off x="784972" y="-391886"/>
            <a:ext cx="10361995" cy="3429000"/>
          </a:xfrm>
        </p:spPr>
      </p:pic>
      <p:sp>
        <p:nvSpPr>
          <p:cNvPr id="13" name="Rechteck 12">
            <a:extLst>
              <a:ext uri="{FF2B5EF4-FFF2-40B4-BE49-F238E27FC236}">
                <a16:creationId xmlns:a16="http://schemas.microsoft.com/office/drawing/2014/main" id="{5381A484-327A-29AF-6A2B-E20B4DD5041C}"/>
              </a:ext>
            </a:extLst>
          </p:cNvPr>
          <p:cNvSpPr/>
          <p:nvPr/>
        </p:nvSpPr>
        <p:spPr>
          <a:xfrm>
            <a:off x="11264202" y="0"/>
            <a:ext cx="927798" cy="924448"/>
          </a:xfrm>
          <a:prstGeom prst="rect">
            <a:avLst/>
          </a:prstGeom>
          <a:solidFill>
            <a:srgbClr val="EFB50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6524A8A9-E2F5-A543-B68D-909180632958}"/>
              </a:ext>
            </a:extLst>
          </p:cNvPr>
          <p:cNvCxnSpPr/>
          <p:nvPr/>
        </p:nvCxnSpPr>
        <p:spPr>
          <a:xfrm>
            <a:off x="804028" y="0"/>
            <a:ext cx="0" cy="5943601"/>
          </a:xfrm>
          <a:prstGeom prst="line">
            <a:avLst/>
          </a:prstGeom>
          <a:ln w="15875">
            <a:solidFill>
              <a:srgbClr val="EFB50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feld 2">
            <a:extLst>
              <a:ext uri="{FF2B5EF4-FFF2-40B4-BE49-F238E27FC236}">
                <a16:creationId xmlns:a16="http://schemas.microsoft.com/office/drawing/2014/main" id="{29224935-DB1E-F7A4-0F8D-95A9B86DF830}"/>
              </a:ext>
            </a:extLst>
          </p:cNvPr>
          <p:cNvSpPr txBox="1"/>
          <p:nvPr/>
        </p:nvSpPr>
        <p:spPr>
          <a:xfrm>
            <a:off x="8149427" y="6412078"/>
            <a:ext cx="3578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9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Created</a:t>
            </a:r>
            <a:r>
              <a:rPr lang="de-DE" sz="9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9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by</a:t>
            </a:r>
            <a:r>
              <a:rPr lang="de-DE" sz="9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: Patrick Paubandt – neue Fische Data Analytics Bootcamp</a:t>
            </a:r>
          </a:p>
          <a:p>
            <a:endParaRPr lang="de-DE" sz="900" dirty="0">
              <a:solidFill>
                <a:schemeClr val="bg1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8822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5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617D70B7-5237-E34E-F4A9-6603E212BDD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264202" y="0"/>
            <a:ext cx="927798" cy="924448"/>
          </a:xfrm>
          <a:prstGeom prst="rect">
            <a:avLst/>
          </a:prstGeom>
          <a:solidFill>
            <a:srgbClr val="EFB50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FDEBC60-AA38-5DEF-3160-0CAA68F3D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5" y="503852"/>
            <a:ext cx="9150675" cy="1427585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NYC Yellow Taxi trips: Data &amp; </a:t>
            </a:r>
            <a:r>
              <a:rPr lang="de-DE" dirty="0" err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Scope</a:t>
            </a:r>
            <a:endParaRPr lang="de-DE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EBEE570-1B5E-FFD1-485D-D77E4E6FE7C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50153" y="2108722"/>
            <a:ext cx="8552264" cy="4119463"/>
          </a:xfrm>
        </p:spPr>
        <p:txBody>
          <a:bodyPr rtlCol="0"/>
          <a:lstStyle>
            <a:defPPr>
              <a:defRPr lang="de-DE"/>
            </a:defPPr>
          </a:lstStyle>
          <a:p>
            <a:pPr marL="0" indent="0" rtl="0">
              <a:buNone/>
            </a:pPr>
            <a:endParaRPr lang="de-DE" b="1" dirty="0">
              <a:solidFill>
                <a:schemeClr val="bg1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 rtl="0">
              <a:lnSpc>
                <a:spcPct val="150000"/>
              </a:lnSpc>
            </a:pPr>
            <a:r>
              <a:rPr lang="de-DE" sz="18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Dataset: </a:t>
            </a:r>
            <a:r>
              <a:rPr lang="de-DE" sz="18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NYC Yellow Taxi trips (Jul – Sep 2025)</a:t>
            </a:r>
          </a:p>
          <a:p>
            <a:pPr rtl="0">
              <a:lnSpc>
                <a:spcPct val="150000"/>
              </a:lnSpc>
            </a:pPr>
            <a:r>
              <a:rPr lang="de-DE" sz="18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Enrichment: </a:t>
            </a:r>
            <a:r>
              <a:rPr lang="de-DE" sz="18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Taxi </a:t>
            </a:r>
            <a:r>
              <a:rPr lang="de-DE" sz="18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Zones</a:t>
            </a:r>
            <a:r>
              <a:rPr lang="de-DE" sz="18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(PU/DO </a:t>
            </a:r>
            <a:r>
              <a:rPr lang="de-DE" sz="18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zones</a:t>
            </a:r>
            <a:r>
              <a:rPr lang="de-DE" sz="18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) + BID </a:t>
            </a:r>
            <a:r>
              <a:rPr lang="de-DE" sz="18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boundaries</a:t>
            </a:r>
            <a:r>
              <a:rPr lang="de-DE" sz="18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(</a:t>
            </a:r>
            <a:r>
              <a:rPr lang="de-DE" sz="18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zone</a:t>
            </a:r>
            <a:r>
              <a:rPr lang="de-DE" sz="18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8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overlap</a:t>
            </a:r>
            <a:r>
              <a:rPr lang="de-DE" sz="18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%)</a:t>
            </a:r>
            <a:endParaRPr lang="de-DE" sz="1800" b="1" dirty="0">
              <a:solidFill>
                <a:schemeClr val="bg1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 rtl="0">
              <a:lnSpc>
                <a:spcPct val="150000"/>
              </a:lnSpc>
            </a:pPr>
            <a:r>
              <a:rPr lang="de-DE" sz="18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Focus: </a:t>
            </a:r>
            <a:r>
              <a:rPr lang="de-DE" sz="18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tipping</a:t>
            </a:r>
            <a:r>
              <a:rPr lang="de-DE" sz="18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8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behaviour</a:t>
            </a:r>
            <a:r>
              <a:rPr lang="de-DE" sz="18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in </a:t>
            </a:r>
            <a:r>
              <a:rPr lang="de-DE" sz="18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card</a:t>
            </a:r>
            <a:r>
              <a:rPr lang="de-DE" sz="18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paid trips</a:t>
            </a:r>
          </a:p>
          <a:p>
            <a:pPr rtl="0">
              <a:lnSpc>
                <a:spcPct val="150000"/>
              </a:lnSpc>
            </a:pPr>
            <a:r>
              <a:rPr lang="de-DE" sz="18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Unit </a:t>
            </a:r>
            <a:r>
              <a:rPr lang="de-DE" sz="1800" b="1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of</a:t>
            </a:r>
            <a:r>
              <a:rPr lang="de-DE" sz="18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800" b="1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analysis</a:t>
            </a:r>
            <a:r>
              <a:rPr lang="de-DE" sz="18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: </a:t>
            </a:r>
            <a:r>
              <a:rPr lang="de-DE" sz="18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8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one</a:t>
            </a:r>
            <a:r>
              <a:rPr lang="de-DE" sz="18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8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record</a:t>
            </a:r>
            <a:r>
              <a:rPr lang="de-DE" sz="18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= </a:t>
            </a:r>
            <a:r>
              <a:rPr lang="de-DE" sz="18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one</a:t>
            </a:r>
            <a:r>
              <a:rPr lang="de-DE" sz="18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8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trip</a:t>
            </a:r>
            <a:endParaRPr lang="de-DE" sz="1800" b="1" dirty="0">
              <a:solidFill>
                <a:schemeClr val="bg1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 rtl="0">
              <a:lnSpc>
                <a:spcPct val="150000"/>
              </a:lnSpc>
            </a:pPr>
            <a:r>
              <a:rPr lang="de-DE" sz="18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Output: </a:t>
            </a:r>
            <a:r>
              <a:rPr lang="de-DE" sz="18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Tableau Story (Hypothesis </a:t>
            </a:r>
            <a:r>
              <a:rPr lang="de-DE" sz="18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tests</a:t>
            </a:r>
            <a:r>
              <a:rPr lang="de-DE" sz="18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)</a:t>
            </a:r>
            <a:endParaRPr lang="de-DE" sz="1800" b="1" dirty="0">
              <a:solidFill>
                <a:schemeClr val="bg1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27C964F-E2D5-D8E7-C513-C47A7E409DF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18D65601-5AE2-46FC-B138-694DDD2B510D}" type="slidenum">
              <a:rPr lang="de-DE" smtClean="0">
                <a:solidFill>
                  <a:schemeClr val="bg1"/>
                </a:solidFill>
              </a:rPr>
              <a:pPr rtl="0"/>
              <a:t>2</a:t>
            </a:fld>
            <a:endParaRPr lang="de-DE" dirty="0">
              <a:solidFill>
                <a:schemeClr val="bg1"/>
              </a:solidFill>
            </a:endParaRPr>
          </a:p>
        </p:txBody>
      </p: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24E4A1B1-2AE3-703C-D2FD-E6CDF5755140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904509" y="0"/>
            <a:ext cx="0" cy="5943601"/>
          </a:xfrm>
          <a:prstGeom prst="line">
            <a:avLst/>
          </a:prstGeom>
          <a:ln w="15875">
            <a:solidFill>
              <a:srgbClr val="EFB50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6152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5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617D70B7-5237-E34E-F4A9-6603E212BDD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264202" y="0"/>
            <a:ext cx="927798" cy="924448"/>
          </a:xfrm>
          <a:prstGeom prst="rect">
            <a:avLst/>
          </a:prstGeom>
          <a:solidFill>
            <a:srgbClr val="EFB50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FDEBC60-AA38-5DEF-3160-0CAA68F3D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5" y="503852"/>
            <a:ext cx="9150675" cy="1427585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NYC Yellow Taxi trips: Data &amp; </a:t>
            </a:r>
            <a:r>
              <a:rPr lang="de-DE" dirty="0" err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Scope</a:t>
            </a:r>
            <a:endParaRPr lang="de-DE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EBEE570-1B5E-FFD1-485D-D77E4E6FE7C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50153" y="2108722"/>
            <a:ext cx="8552264" cy="4611255"/>
          </a:xfrm>
        </p:spPr>
        <p:txBody>
          <a:bodyPr rtlCol="0">
            <a:normAutofit/>
          </a:bodyPr>
          <a:lstStyle>
            <a:defPPr>
              <a:defRPr lang="de-DE"/>
            </a:defPPr>
          </a:lstStyle>
          <a:p>
            <a:r>
              <a:rPr lang="de-DE" sz="1800" b="1" dirty="0" err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From</a:t>
            </a:r>
            <a:r>
              <a:rPr lang="de-DE" sz="18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de-DE" sz="1800" b="1" dirty="0" err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raw</a:t>
            </a:r>
            <a:r>
              <a:rPr lang="de-DE" sz="18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de-DE" sz="1800" b="1" dirty="0" err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to</a:t>
            </a:r>
            <a:r>
              <a:rPr lang="de-DE" sz="18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de-DE" sz="1800" b="1" dirty="0" err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analysis</a:t>
            </a:r>
            <a:r>
              <a:rPr lang="de-DE" sz="18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sample</a:t>
            </a:r>
          </a:p>
          <a:p>
            <a:pPr lvl="1"/>
            <a:r>
              <a:rPr lang="de-DE" sz="1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Raw trips </a:t>
            </a:r>
            <a:r>
              <a:rPr lang="de-DE" sz="1600" b="1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loaded</a:t>
            </a:r>
            <a:r>
              <a:rPr lang="de-DE" sz="1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: 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~ 11.7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million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rows</a:t>
            </a:r>
            <a:endParaRPr lang="de-DE" sz="1600" dirty="0">
              <a:solidFill>
                <a:schemeClr val="bg1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 lvl="1"/>
            <a:r>
              <a:rPr lang="de-DE" sz="1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Analysis sample: 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~ 6.8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million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rows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(-42 %)</a:t>
            </a:r>
            <a:b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</a:br>
            <a:endParaRPr lang="de-DE" sz="1600" dirty="0">
              <a:solidFill>
                <a:schemeClr val="bg1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r>
              <a:rPr lang="de-DE" sz="18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Key </a:t>
            </a:r>
            <a:r>
              <a:rPr lang="de-DE" sz="1800" dirty="0" err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Metrics</a:t>
            </a:r>
            <a:endParaRPr lang="de-DE" sz="1800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lvl="1"/>
            <a:r>
              <a:rPr lang="de-DE" sz="1600" b="1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Tip</a:t>
            </a:r>
            <a:r>
              <a:rPr lang="de-DE" sz="1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b="1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probability</a:t>
            </a:r>
            <a:r>
              <a:rPr lang="de-DE" sz="1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(%) =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share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of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trips 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with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tip_amount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&gt; 0</a:t>
            </a:r>
          </a:p>
          <a:p>
            <a:pPr lvl="1"/>
            <a:r>
              <a:rPr lang="de-DE" sz="1600" b="1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Tip</a:t>
            </a:r>
            <a:r>
              <a:rPr lang="de-DE" sz="1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% </a:t>
            </a:r>
            <a:r>
              <a:rPr lang="de-DE" sz="1600" b="1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of</a:t>
            </a:r>
            <a:r>
              <a:rPr lang="de-DE" sz="1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b="1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fare</a:t>
            </a:r>
            <a:r>
              <a:rPr lang="de-DE" sz="1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=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tip_amount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/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fare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(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fare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=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pre-tip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total in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this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analysis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)</a:t>
            </a:r>
          </a:p>
          <a:p>
            <a:pPr lvl="1"/>
            <a:r>
              <a:rPr lang="de-DE" sz="1600" b="1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Tip</a:t>
            </a:r>
            <a:r>
              <a:rPr lang="de-DE" sz="1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% </a:t>
            </a:r>
            <a:r>
              <a:rPr lang="de-DE" sz="1600" b="1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of</a:t>
            </a:r>
            <a:r>
              <a:rPr lang="de-DE" sz="1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b="1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fare</a:t>
            </a:r>
            <a:r>
              <a:rPr lang="de-DE" sz="1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 (P99 </a:t>
            </a:r>
            <a:r>
              <a:rPr lang="de-DE" sz="1600" b="1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capped</a:t>
            </a:r>
            <a:r>
              <a:rPr lang="de-DE" sz="1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) =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used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to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reduce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extreme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outliers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ans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stabilizie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averages</a:t>
            </a:r>
            <a:b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</a:br>
            <a:endParaRPr lang="de-DE" sz="1600" dirty="0">
              <a:solidFill>
                <a:schemeClr val="bg1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r>
              <a:rPr lang="de-DE" sz="18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Payment </a:t>
            </a:r>
            <a:r>
              <a:rPr lang="de-DE" sz="1800" dirty="0" err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Scope</a:t>
            </a:r>
            <a:endParaRPr lang="de-DE" sz="1800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lvl="1"/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Cash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tips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are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not </a:t>
            </a:r>
            <a:r>
              <a:rPr lang="de-DE" sz="1600" b="1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reliably</a:t>
            </a:r>
            <a:r>
              <a:rPr lang="de-DE" sz="1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b="1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captured</a:t>
            </a:r>
            <a:r>
              <a:rPr lang="de-DE" sz="1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  <a:sym typeface="Wingdings" panose="05000000000000000000" pitchFamily="2" charset="2"/>
              </a:rPr>
              <a:t>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  <a:sym typeface="Wingdings" panose="05000000000000000000" pitchFamily="2" charset="2"/>
              </a:rPr>
              <a:t>excluded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  <a:sym typeface="Wingdings" panose="05000000000000000000" pitchFamily="2" charset="2"/>
              </a:rPr>
              <a:t>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  <a:sym typeface="Wingdings" panose="05000000000000000000" pitchFamily="2" charset="2"/>
              </a:rPr>
              <a:t>to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  <a:sym typeface="Wingdings" panose="05000000000000000000" pitchFamily="2" charset="2"/>
              </a:rPr>
              <a:t>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  <a:sym typeface="Wingdings" panose="05000000000000000000" pitchFamily="2" charset="2"/>
              </a:rPr>
              <a:t>reduce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  <a:sym typeface="Wingdings" panose="05000000000000000000" pitchFamily="2" charset="2"/>
              </a:rPr>
              <a:t>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  <a:sym typeface="Wingdings" panose="05000000000000000000" pitchFamily="2" charset="2"/>
              </a:rPr>
              <a:t>measurement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  <a:sym typeface="Wingdings" panose="05000000000000000000" pitchFamily="2" charset="2"/>
              </a:rPr>
              <a:t>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  <a:sym typeface="Wingdings" panose="05000000000000000000" pitchFamily="2" charset="2"/>
              </a:rPr>
              <a:t>bias</a:t>
            </a:r>
            <a:endParaRPr lang="de-DE" sz="1600" dirty="0">
              <a:solidFill>
                <a:schemeClr val="bg1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 lvl="1"/>
            <a:endParaRPr lang="de-DE" sz="1800" dirty="0">
              <a:solidFill>
                <a:schemeClr val="bg1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 marL="0" indent="0" rtl="0">
              <a:buNone/>
            </a:pPr>
            <a:endParaRPr lang="de-DE" sz="1800" dirty="0">
              <a:solidFill>
                <a:schemeClr val="bg1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 marL="0" indent="0">
              <a:buNone/>
            </a:pPr>
            <a:endParaRPr lang="de-DE" sz="1800" u="sng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27C964F-E2D5-D8E7-C513-C47A7E409DF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18D65601-5AE2-46FC-B138-694DDD2B510D}" type="slidenum">
              <a:rPr lang="de-DE" smtClean="0">
                <a:solidFill>
                  <a:schemeClr val="bg1"/>
                </a:solidFill>
              </a:rPr>
              <a:pPr rtl="0"/>
              <a:t>3</a:t>
            </a:fld>
            <a:endParaRPr lang="de-DE" dirty="0">
              <a:solidFill>
                <a:schemeClr val="bg1"/>
              </a:solidFill>
            </a:endParaRPr>
          </a:p>
        </p:txBody>
      </p: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24E4A1B1-2AE3-703C-D2FD-E6CDF5755140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904509" y="0"/>
            <a:ext cx="0" cy="5943601"/>
          </a:xfrm>
          <a:prstGeom prst="line">
            <a:avLst/>
          </a:prstGeom>
          <a:ln w="15875">
            <a:solidFill>
              <a:srgbClr val="EFB50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1D68B1C8-6B5C-DD9E-52EA-DF7C468E81D9}"/>
              </a:ext>
            </a:extLst>
          </p:cNvPr>
          <p:cNvGrpSpPr/>
          <p:nvPr/>
        </p:nvGrpSpPr>
        <p:grpSpPr>
          <a:xfrm>
            <a:off x="6981191" y="2543912"/>
            <a:ext cx="4472792" cy="1438598"/>
            <a:chOff x="6981191" y="2543912"/>
            <a:chExt cx="4472792" cy="1438598"/>
          </a:xfrm>
        </p:grpSpPr>
        <p:pic>
          <p:nvPicPr>
            <p:cNvPr id="6" name="Grafik 5">
              <a:extLst>
                <a:ext uri="{FF2B5EF4-FFF2-40B4-BE49-F238E27FC236}">
                  <a16:creationId xmlns:a16="http://schemas.microsoft.com/office/drawing/2014/main" id="{4B880B77-42DF-9506-FCB5-4514FEFB8F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21040" r="28771" b="10485"/>
            <a:stretch/>
          </p:blipFill>
          <p:spPr>
            <a:xfrm>
              <a:off x="6981191" y="2543912"/>
              <a:ext cx="4472792" cy="1092036"/>
            </a:xfrm>
            <a:prstGeom prst="rect">
              <a:avLst/>
            </a:prstGeom>
          </p:spPr>
        </p:pic>
        <p:sp>
          <p:nvSpPr>
            <p:cNvPr id="8" name="Textfeld 7">
              <a:extLst>
                <a:ext uri="{FF2B5EF4-FFF2-40B4-BE49-F238E27FC236}">
                  <a16:creationId xmlns:a16="http://schemas.microsoft.com/office/drawing/2014/main" id="{76C3B051-D7FE-7CB4-E6DD-1DE9056D2E3F}"/>
                </a:ext>
              </a:extLst>
            </p:cNvPr>
            <p:cNvSpPr txBox="1"/>
            <p:nvPr/>
          </p:nvSpPr>
          <p:spPr>
            <a:xfrm>
              <a:off x="7250764" y="3643956"/>
              <a:ext cx="39336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600" b="1" dirty="0">
                  <a:solidFill>
                    <a:schemeClr val="bg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Cash </a:t>
              </a:r>
              <a:r>
                <a:rPr lang="de-DE" sz="1600" b="1" dirty="0" err="1">
                  <a:solidFill>
                    <a:schemeClr val="bg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tips</a:t>
              </a:r>
              <a:r>
                <a:rPr lang="de-DE" sz="1600" b="1" dirty="0">
                  <a:solidFill>
                    <a:schemeClr val="bg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 </a:t>
              </a:r>
              <a:r>
                <a:rPr lang="de-DE" sz="1600" b="1" dirty="0" err="1">
                  <a:solidFill>
                    <a:schemeClr val="bg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often</a:t>
              </a:r>
              <a:r>
                <a:rPr lang="de-DE" sz="1600" b="1" dirty="0">
                  <a:solidFill>
                    <a:schemeClr val="bg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 </a:t>
              </a:r>
              <a:r>
                <a:rPr lang="de-DE" sz="1600" b="1" dirty="0" err="1">
                  <a:solidFill>
                    <a:schemeClr val="bg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appear</a:t>
              </a:r>
              <a:r>
                <a:rPr lang="de-DE" sz="1600" b="1" dirty="0">
                  <a:solidFill>
                    <a:schemeClr val="bg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 </a:t>
              </a:r>
              <a:r>
                <a:rPr lang="de-DE" sz="1600" b="1" dirty="0" err="1">
                  <a:solidFill>
                    <a:schemeClr val="bg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as</a:t>
              </a:r>
              <a:r>
                <a:rPr lang="de-DE" sz="1600" b="1" dirty="0">
                  <a:solidFill>
                    <a:schemeClr val="bg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 0 in TLC </a:t>
              </a:r>
              <a:r>
                <a:rPr lang="de-DE" sz="1600" b="1" dirty="0" err="1">
                  <a:solidFill>
                    <a:schemeClr val="bg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records</a:t>
              </a:r>
              <a:endParaRPr lang="de-DE" sz="1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endParaRPr>
            </a:p>
          </p:txBody>
        </p:sp>
      </p:grpSp>
      <p:pic>
        <p:nvPicPr>
          <p:cNvPr id="11" name="Grafik 10">
            <a:extLst>
              <a:ext uri="{FF2B5EF4-FFF2-40B4-BE49-F238E27FC236}">
                <a16:creationId xmlns:a16="http://schemas.microsoft.com/office/drawing/2014/main" id="{864798F8-4046-9747-4ECB-FCC1AE1F62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7110" y="2290847"/>
            <a:ext cx="4380952" cy="136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424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5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617D70B7-5237-E34E-F4A9-6603E212BDD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264202" y="0"/>
            <a:ext cx="927798" cy="924448"/>
          </a:xfrm>
          <a:prstGeom prst="rect">
            <a:avLst/>
          </a:prstGeom>
          <a:solidFill>
            <a:srgbClr val="EFB50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FDEBC60-AA38-5DEF-3160-0CAA68F3D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5" y="503852"/>
            <a:ext cx="9150675" cy="1427585"/>
          </a:xfrm>
        </p:spPr>
        <p:txBody>
          <a:bodyPr rtlCol="0">
            <a:normAutofit fontScale="90000"/>
          </a:bodyPr>
          <a:lstStyle>
            <a:defPPr>
              <a:defRPr lang="de-DE"/>
            </a:defPPr>
          </a:lstStyle>
          <a:p>
            <a:pPr>
              <a:lnSpc>
                <a:spcPct val="150000"/>
              </a:lnSpc>
            </a:pPr>
            <a:r>
              <a:rPr lang="de-DE" sz="40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Analysis </a:t>
            </a:r>
            <a:r>
              <a:rPr lang="de-DE" sz="4000" dirty="0" err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flow</a:t>
            </a:r>
            <a:r>
              <a:rPr lang="de-DE" sz="40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&amp; </a:t>
            </a:r>
            <a:r>
              <a:rPr lang="de-DE" sz="4000" dirty="0" err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hypotheses</a:t>
            </a:r>
            <a:br>
              <a:rPr lang="de-DE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</a:br>
            <a:r>
              <a:rPr lang="de-DE" sz="18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  <a:sym typeface="Wingdings" panose="05000000000000000000" pitchFamily="2" charset="2"/>
              </a:rPr>
              <a:t>Tipping </a:t>
            </a:r>
            <a:r>
              <a:rPr lang="de-DE" sz="1800" b="1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  <a:sym typeface="Wingdings" panose="05000000000000000000" pitchFamily="2" charset="2"/>
              </a:rPr>
              <a:t>mechanics</a:t>
            </a:r>
            <a:r>
              <a:rPr lang="de-DE" sz="18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  <a:sym typeface="Wingdings" panose="05000000000000000000" pitchFamily="2" charset="2"/>
              </a:rPr>
              <a:t>  Hypothesis </a:t>
            </a:r>
            <a:r>
              <a:rPr lang="de-DE" sz="1800" b="1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  <a:sym typeface="Wingdings" panose="05000000000000000000" pitchFamily="2" charset="2"/>
              </a:rPr>
              <a:t>tests</a:t>
            </a:r>
            <a:r>
              <a:rPr lang="de-DE" sz="18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  <a:sym typeface="Wingdings" panose="05000000000000000000" pitchFamily="2" charset="2"/>
              </a:rPr>
              <a:t>  </a:t>
            </a:r>
            <a:r>
              <a:rPr lang="de-DE" sz="1800" b="1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  <a:sym typeface="Wingdings" panose="05000000000000000000" pitchFamily="2" charset="2"/>
              </a:rPr>
              <a:t>Conclusion</a:t>
            </a:r>
            <a:br>
              <a:rPr lang="de-DE" sz="3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  <a:sym typeface="Wingdings" panose="05000000000000000000" pitchFamily="2" charset="2"/>
              </a:rPr>
            </a:br>
            <a:endParaRPr lang="de-DE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EBEE570-1B5E-FFD1-485D-D77E4E6FE7C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50153" y="2108722"/>
            <a:ext cx="8552264" cy="4611255"/>
          </a:xfrm>
        </p:spPr>
        <p:txBody>
          <a:bodyPr rtlCol="0">
            <a:normAutofit/>
          </a:bodyPr>
          <a:lstStyle>
            <a:defPPr>
              <a:defRPr lang="de-DE"/>
            </a:defPPr>
          </a:lstStyle>
          <a:p>
            <a:pPr marL="0" indent="0" algn="ctr">
              <a:buNone/>
            </a:pPr>
            <a:endParaRPr lang="en-US" sz="1800" b="1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  <a:sym typeface="Wingdings" panose="05000000000000000000" pitchFamily="2" charset="2"/>
            </a:endParaRPr>
          </a:p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  <a:sym typeface="Wingdings" panose="05000000000000000000" pitchFamily="2" charset="2"/>
              </a:rPr>
              <a:t>Research question: How does trip context — especially trip size and friction — shape tipping behavior</a:t>
            </a:r>
            <a:b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</a:br>
            <a:endParaRPr lang="de-DE" sz="1600" dirty="0">
              <a:solidFill>
                <a:schemeClr val="bg1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r>
              <a:rPr lang="de-DE" sz="18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Hypothesis: </a:t>
            </a:r>
          </a:p>
          <a:p>
            <a:pPr lvl="1"/>
            <a:r>
              <a:rPr lang="de-DE" sz="1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H1 Tipping </a:t>
            </a:r>
            <a:r>
              <a:rPr lang="de-DE" sz="1600" b="1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mechanics</a:t>
            </a:r>
            <a:r>
              <a:rPr lang="de-DE" sz="1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(</a:t>
            </a:r>
            <a:r>
              <a:rPr lang="de-DE" sz="1600" b="1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trip</a:t>
            </a:r>
            <a:r>
              <a:rPr lang="de-DE" sz="1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b="1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size</a:t>
            </a:r>
            <a:r>
              <a:rPr lang="de-DE" sz="1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)=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small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fares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follow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minimum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tip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-pattern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which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inflates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tip</a:t>
            </a:r>
            <a:endParaRPr lang="de-DE" sz="1600" dirty="0">
              <a:solidFill>
                <a:schemeClr val="bg1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 lvl="1"/>
            <a:r>
              <a:rPr lang="de-DE" sz="1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H1 Stress/</a:t>
            </a:r>
            <a:r>
              <a:rPr lang="de-DE" sz="1600" b="1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Friction</a:t>
            </a:r>
            <a:r>
              <a:rPr lang="de-DE" sz="1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=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higher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minutes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-per-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mile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reduces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probability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of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tipping</a:t>
            </a:r>
            <a:endParaRPr lang="de-DE" sz="1600" dirty="0">
              <a:solidFill>
                <a:schemeClr val="bg1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 lvl="1"/>
            <a:r>
              <a:rPr lang="de-DE" sz="1600" b="1" strike="sngStrike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H3 Airport = </a:t>
            </a:r>
            <a:r>
              <a:rPr lang="de-DE" sz="1600" strike="sngStrike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Airport (JFK/LGA) </a:t>
            </a:r>
            <a:r>
              <a:rPr lang="de-DE" sz="1600" strike="sngStrike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trips</a:t>
            </a:r>
            <a:r>
              <a:rPr lang="de-DE" sz="1600" strike="sngStrike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strike="sngStrike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tips</a:t>
            </a:r>
            <a:r>
              <a:rPr lang="de-DE" sz="1600" strike="sngStrike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strike="sngStrike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more</a:t>
            </a:r>
            <a:r>
              <a:rPr lang="de-DE" sz="1600" strike="sngStrike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strike="sngStrike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than</a:t>
            </a:r>
            <a:r>
              <a:rPr lang="de-DE" sz="1600" strike="sngStrike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non-airport trips</a:t>
            </a:r>
          </a:p>
          <a:p>
            <a:pPr lvl="1"/>
            <a:r>
              <a:rPr lang="de-DE" sz="1600" b="1" strike="sngStrike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H4 BID </a:t>
            </a:r>
            <a:r>
              <a:rPr lang="de-DE" sz="1600" b="1" strike="sngStrike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exposure</a:t>
            </a:r>
            <a:r>
              <a:rPr lang="de-DE" sz="1600" b="1" strike="sngStrike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= </a:t>
            </a:r>
            <a:r>
              <a:rPr lang="de-DE" sz="1600" strike="sngStrike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higher</a:t>
            </a:r>
            <a:r>
              <a:rPr lang="de-DE" sz="1600" strike="sngStrike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BID </a:t>
            </a:r>
            <a:r>
              <a:rPr lang="de-DE" sz="1600" strike="sngStrike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overlap</a:t>
            </a:r>
            <a:r>
              <a:rPr lang="de-DE" sz="1600" strike="sngStrike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at </a:t>
            </a:r>
            <a:r>
              <a:rPr lang="de-DE" sz="1600" strike="sngStrike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dropoff</a:t>
            </a:r>
            <a:r>
              <a:rPr lang="de-DE" sz="1600" strike="sngStrike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strike="sngStrike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  <a:sym typeface="Wingdings" panose="05000000000000000000" pitchFamily="2" charset="2"/>
              </a:rPr>
              <a:t> </a:t>
            </a:r>
            <a:r>
              <a:rPr lang="de-DE" sz="1600" strike="sngStrike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  <a:sym typeface="Wingdings" panose="05000000000000000000" pitchFamily="2" charset="2"/>
              </a:rPr>
              <a:t>higher</a:t>
            </a:r>
            <a:r>
              <a:rPr lang="de-DE" sz="1600" strike="sngStrike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  <a:sym typeface="Wingdings" panose="05000000000000000000" pitchFamily="2" charset="2"/>
              </a:rPr>
              <a:t> </a:t>
            </a:r>
            <a:r>
              <a:rPr lang="de-DE" sz="1600" strike="sngStrike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  <a:sym typeface="Wingdings" panose="05000000000000000000" pitchFamily="2" charset="2"/>
              </a:rPr>
              <a:t>tipping</a:t>
            </a:r>
            <a:b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</a:br>
            <a:endParaRPr lang="de-DE" sz="1600" dirty="0">
              <a:solidFill>
                <a:schemeClr val="bg1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 lvl="1"/>
            <a:endParaRPr lang="de-DE" sz="1800" dirty="0">
              <a:solidFill>
                <a:schemeClr val="bg1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 marL="0" indent="0" rtl="0">
              <a:buNone/>
            </a:pPr>
            <a:endParaRPr lang="de-DE" sz="1800" dirty="0">
              <a:solidFill>
                <a:schemeClr val="bg1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 marL="0" indent="0">
              <a:buNone/>
            </a:pPr>
            <a:endParaRPr lang="de-DE" sz="1800" u="sng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27C964F-E2D5-D8E7-C513-C47A7E409DF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18D65601-5AE2-46FC-B138-694DDD2B510D}" type="slidenum">
              <a:rPr lang="de-DE" smtClean="0">
                <a:solidFill>
                  <a:schemeClr val="bg1"/>
                </a:solidFill>
              </a:rPr>
              <a:pPr rtl="0"/>
              <a:t>4</a:t>
            </a:fld>
            <a:endParaRPr lang="de-DE" dirty="0">
              <a:solidFill>
                <a:schemeClr val="bg1"/>
              </a:solidFill>
            </a:endParaRPr>
          </a:p>
        </p:txBody>
      </p: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24E4A1B1-2AE3-703C-D2FD-E6CDF5755140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904509" y="0"/>
            <a:ext cx="0" cy="5943601"/>
          </a:xfrm>
          <a:prstGeom prst="line">
            <a:avLst/>
          </a:prstGeom>
          <a:ln w="15875">
            <a:solidFill>
              <a:srgbClr val="EFB50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36027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5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617D70B7-5237-E34E-F4A9-6603E212BDD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264202" y="0"/>
            <a:ext cx="927798" cy="924448"/>
          </a:xfrm>
          <a:prstGeom prst="rect">
            <a:avLst/>
          </a:prstGeom>
          <a:solidFill>
            <a:srgbClr val="EFB50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FDEBC60-AA38-5DEF-3160-0CAA68F3D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0662" y="2234681"/>
            <a:ext cx="9150675" cy="1474237"/>
          </a:xfrm>
        </p:spPr>
        <p:txBody>
          <a:bodyPr rtlCol="0">
            <a:normAutofit fontScale="90000"/>
          </a:bodyPr>
          <a:lstStyle>
            <a:defPPr>
              <a:defRPr lang="de-DE"/>
            </a:defPPr>
          </a:lstStyle>
          <a:p>
            <a:pPr algn="ctr">
              <a:lnSpc>
                <a:spcPct val="150000"/>
              </a:lnSpc>
            </a:pPr>
            <a:r>
              <a:rPr lang="de-DE" sz="4000" dirty="0" err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Let‘s</a:t>
            </a:r>
            <a:r>
              <a:rPr lang="de-DE" sz="40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de-DE" sz="4000" dirty="0" err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Continue</a:t>
            </a:r>
            <a:r>
              <a:rPr lang="de-DE" sz="40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in Tableau</a:t>
            </a:r>
            <a:br>
              <a:rPr lang="de-DE" sz="3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  <a:sym typeface="Wingdings" panose="05000000000000000000" pitchFamily="2" charset="2"/>
              </a:rPr>
            </a:br>
            <a:endParaRPr lang="de-DE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27C964F-E2D5-D8E7-C513-C47A7E409DF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18D65601-5AE2-46FC-B138-694DDD2B510D}" type="slidenum">
              <a:rPr lang="de-DE" smtClean="0">
                <a:solidFill>
                  <a:schemeClr val="bg1"/>
                </a:solidFill>
              </a:rPr>
              <a:pPr rtl="0"/>
              <a:t>5</a:t>
            </a:fld>
            <a:endParaRPr lang="de-DE" dirty="0">
              <a:solidFill>
                <a:schemeClr val="bg1"/>
              </a:solidFill>
            </a:endParaRPr>
          </a:p>
        </p:txBody>
      </p: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24E4A1B1-2AE3-703C-D2FD-E6CDF5755140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904509" y="0"/>
            <a:ext cx="0" cy="5943601"/>
          </a:xfrm>
          <a:prstGeom prst="line">
            <a:avLst/>
          </a:prstGeom>
          <a:ln w="15875">
            <a:solidFill>
              <a:srgbClr val="EFB50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59118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5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617D70B7-5237-E34E-F4A9-6603E212BDD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264202" y="0"/>
            <a:ext cx="927798" cy="924448"/>
          </a:xfrm>
          <a:prstGeom prst="rect">
            <a:avLst/>
          </a:prstGeom>
          <a:solidFill>
            <a:srgbClr val="EFB50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FDEBC60-AA38-5DEF-3160-0CAA68F3D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5" y="241541"/>
            <a:ext cx="9150675" cy="802256"/>
          </a:xfrm>
        </p:spPr>
        <p:txBody>
          <a:bodyPr rtlCol="0">
            <a:normAutofit fontScale="90000"/>
          </a:bodyPr>
          <a:lstStyle>
            <a:defPPr>
              <a:defRPr lang="de-DE"/>
            </a:defPPr>
          </a:lstStyle>
          <a:p>
            <a:pPr>
              <a:lnSpc>
                <a:spcPct val="150000"/>
              </a:lnSpc>
            </a:pPr>
            <a:r>
              <a:rPr lang="de-DE" sz="40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Key </a:t>
            </a:r>
            <a:r>
              <a:rPr lang="de-DE" sz="4000" dirty="0" err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Findings</a:t>
            </a:r>
            <a:endParaRPr lang="de-DE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EBEE570-1B5E-FFD1-485D-D77E4E6FE7C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50153" y="1319842"/>
            <a:ext cx="8552264" cy="5538158"/>
          </a:xfrm>
        </p:spPr>
        <p:txBody>
          <a:bodyPr rtlCol="0">
            <a:normAutofit fontScale="85000" lnSpcReduction="20000"/>
          </a:bodyPr>
          <a:lstStyle>
            <a:defPPr>
              <a:defRPr lang="de-DE"/>
            </a:defPPr>
          </a:lstStyle>
          <a:p>
            <a:pPr marL="0" indent="0">
              <a:buNone/>
            </a:pPr>
            <a:endParaRPr lang="de-DE" sz="1800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0" indent="0">
              <a:buNone/>
            </a:pPr>
            <a:r>
              <a:rPr lang="de-DE" sz="18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(H1) Tipping </a:t>
            </a:r>
            <a:r>
              <a:rPr lang="de-DE" sz="1800" dirty="0" err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Mechanics</a:t>
            </a:r>
            <a:endParaRPr lang="de-DE" sz="1800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r>
              <a:rPr lang="de-DE" sz="1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Trip </a:t>
            </a:r>
            <a:r>
              <a:rPr lang="de-DE" sz="1600" b="1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size</a:t>
            </a:r>
            <a:r>
              <a:rPr lang="de-DE" sz="1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b="1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is</a:t>
            </a:r>
            <a:r>
              <a:rPr lang="de-DE" sz="1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b="1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the</a:t>
            </a:r>
            <a:r>
              <a:rPr lang="de-DE" sz="1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b="1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key</a:t>
            </a:r>
            <a:r>
              <a:rPr lang="de-DE" sz="1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b="1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confounder</a:t>
            </a:r>
            <a:r>
              <a:rPr lang="de-DE" sz="1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. 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Small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fares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show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step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-like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tipping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(~$2),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which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inflates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tip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%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of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fare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on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small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trips – so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comparisons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must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be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made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within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fare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bins</a:t>
            </a:r>
            <a:endParaRPr lang="de-DE" sz="1600" dirty="0">
              <a:solidFill>
                <a:schemeClr val="bg1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 marL="0" indent="0">
              <a:buNone/>
            </a:pPr>
            <a:endParaRPr lang="de-DE" sz="1600" dirty="0">
              <a:solidFill>
                <a:schemeClr val="bg1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 marL="0" indent="0">
              <a:buNone/>
            </a:pPr>
            <a:r>
              <a:rPr lang="de-DE" sz="18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H2 Stress/</a:t>
            </a:r>
            <a:r>
              <a:rPr lang="de-DE" sz="1800" dirty="0" err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Friction</a:t>
            </a:r>
            <a:endParaRPr lang="de-DE" sz="1800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r>
              <a:rPr lang="de-DE" sz="1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Stress </a:t>
            </a:r>
            <a:r>
              <a:rPr lang="de-DE" sz="1600" b="1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reduces</a:t>
            </a:r>
            <a:r>
              <a:rPr lang="de-DE" sz="1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b="1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tipping</a:t>
            </a:r>
            <a:r>
              <a:rPr lang="de-DE" sz="1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b="1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probability</a:t>
            </a:r>
            <a:r>
              <a:rPr lang="de-DE" sz="1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b="1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consistently</a:t>
            </a:r>
            <a:r>
              <a:rPr lang="de-DE" sz="1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,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even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within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trip-size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buckets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.</a:t>
            </a:r>
            <a:b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</a:b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Tip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%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of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fare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moves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less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;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the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b="1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clearer</a:t>
            </a:r>
            <a:r>
              <a:rPr lang="de-DE" sz="1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b="1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signal</a:t>
            </a:r>
            <a:r>
              <a:rPr lang="de-DE" sz="1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b="1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is</a:t>
            </a:r>
            <a:r>
              <a:rPr lang="de-DE" sz="1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b="1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whether</a:t>
            </a:r>
            <a:r>
              <a:rPr lang="de-DE" sz="1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b="1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people</a:t>
            </a:r>
            <a:r>
              <a:rPr lang="de-DE" sz="1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b="1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tip</a:t>
            </a:r>
            <a:r>
              <a:rPr lang="de-DE" sz="1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b="1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or</a:t>
            </a:r>
            <a:r>
              <a:rPr lang="de-DE" sz="1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not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.</a:t>
            </a:r>
          </a:p>
          <a:p>
            <a:pPr marL="0" indent="0">
              <a:buNone/>
            </a:pPr>
            <a:endParaRPr lang="de-DE" sz="1600" dirty="0">
              <a:solidFill>
                <a:schemeClr val="bg1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 marL="0" indent="0">
              <a:buNone/>
            </a:pPr>
            <a:r>
              <a:rPr lang="de-DE" sz="18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H3 Airport</a:t>
            </a:r>
          </a:p>
          <a:p>
            <a:r>
              <a:rPr lang="de-DE" sz="1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Airport </a:t>
            </a:r>
            <a:r>
              <a:rPr lang="de-DE" sz="1600" b="1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uplift</a:t>
            </a:r>
            <a:r>
              <a:rPr lang="de-DE" sz="1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b="1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is</a:t>
            </a:r>
            <a:r>
              <a:rPr lang="de-DE" sz="1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b="1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conditional</a:t>
            </a:r>
            <a:r>
              <a:rPr lang="de-DE" sz="1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.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en-US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Overall averages can look flat or even lower because airport trips have much higher fares, but </a:t>
            </a:r>
            <a:r>
              <a:rPr lang="en-US" sz="1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within fare bins airport trips often show higher tipping probability</a:t>
            </a:r>
            <a:r>
              <a:rPr lang="en-US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.</a:t>
            </a:r>
            <a:br>
              <a:rPr lang="en-US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</a:br>
            <a:endParaRPr lang="de-DE" sz="1600" dirty="0">
              <a:solidFill>
                <a:schemeClr val="bg1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 marL="0" indent="0">
              <a:buNone/>
            </a:pPr>
            <a:r>
              <a:rPr lang="de-DE" sz="18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H4 Business </a:t>
            </a:r>
            <a:r>
              <a:rPr lang="de-DE" sz="1800" dirty="0" err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improvement</a:t>
            </a:r>
            <a:r>
              <a:rPr lang="de-DE" sz="18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de-DE" sz="1800" dirty="0" err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districts</a:t>
            </a:r>
            <a:endParaRPr lang="de-DE" sz="1800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r>
              <a:rPr lang="en-US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BID is not dose–response. Increasing BID overlap does not steadily increase tipping; the pattern is closer to a threshold effect (0% vs &gt;0%), strongest from $30–50 upward, and more consistent at </a:t>
            </a:r>
            <a:r>
              <a:rPr lang="en-US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dropoff</a:t>
            </a:r>
            <a:r>
              <a:rPr lang="en-US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than pickup.</a:t>
            </a:r>
            <a:endParaRPr lang="de-DE" sz="1600" dirty="0">
              <a:solidFill>
                <a:schemeClr val="bg1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 marL="0" indent="0">
              <a:buNone/>
            </a:pPr>
            <a:b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</a:br>
            <a:b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</a:br>
            <a:endParaRPr lang="de-DE" sz="1600" dirty="0">
              <a:solidFill>
                <a:schemeClr val="bg1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 lvl="1"/>
            <a:endParaRPr lang="de-DE" sz="1800" dirty="0">
              <a:solidFill>
                <a:schemeClr val="bg1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 marL="0" indent="0" rtl="0">
              <a:buNone/>
            </a:pPr>
            <a:endParaRPr lang="de-DE" sz="1800" dirty="0">
              <a:solidFill>
                <a:schemeClr val="bg1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 marL="0" indent="0">
              <a:buNone/>
            </a:pPr>
            <a:endParaRPr lang="de-DE" sz="1800" u="sng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27C964F-E2D5-D8E7-C513-C47A7E409DF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18D65601-5AE2-46FC-B138-694DDD2B510D}" type="slidenum">
              <a:rPr lang="de-DE" smtClean="0">
                <a:solidFill>
                  <a:schemeClr val="bg1"/>
                </a:solidFill>
              </a:rPr>
              <a:pPr rtl="0"/>
              <a:t>6</a:t>
            </a:fld>
            <a:endParaRPr lang="de-DE" dirty="0">
              <a:solidFill>
                <a:schemeClr val="bg1"/>
              </a:solidFill>
            </a:endParaRPr>
          </a:p>
        </p:txBody>
      </p: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24E4A1B1-2AE3-703C-D2FD-E6CDF5755140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904509" y="0"/>
            <a:ext cx="0" cy="5943601"/>
          </a:xfrm>
          <a:prstGeom prst="line">
            <a:avLst/>
          </a:prstGeom>
          <a:ln w="15875">
            <a:solidFill>
              <a:srgbClr val="EFB50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63666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5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617D70B7-5237-E34E-F4A9-6603E212BDD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264202" y="0"/>
            <a:ext cx="927798" cy="924448"/>
          </a:xfrm>
          <a:prstGeom prst="rect">
            <a:avLst/>
          </a:prstGeom>
          <a:solidFill>
            <a:srgbClr val="EFB50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FDEBC60-AA38-5DEF-3160-0CAA68F3D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5" y="241541"/>
            <a:ext cx="9150675" cy="802256"/>
          </a:xfrm>
        </p:spPr>
        <p:txBody>
          <a:bodyPr rtlCol="0">
            <a:normAutofit fontScale="90000"/>
          </a:bodyPr>
          <a:lstStyle>
            <a:defPPr>
              <a:defRPr lang="de-DE"/>
            </a:defPPr>
          </a:lstStyle>
          <a:p>
            <a:pPr>
              <a:lnSpc>
                <a:spcPct val="150000"/>
              </a:lnSpc>
            </a:pPr>
            <a:r>
              <a:rPr lang="de-DE" sz="40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So </a:t>
            </a:r>
            <a:r>
              <a:rPr lang="de-DE" sz="4000" dirty="0" err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what</a:t>
            </a:r>
            <a:r>
              <a:rPr lang="de-DE" sz="40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? </a:t>
            </a:r>
            <a:r>
              <a:rPr lang="de-DE" sz="4000" dirty="0" err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Practical</a:t>
            </a:r>
            <a:r>
              <a:rPr lang="de-DE" sz="40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de-DE" sz="4000" dirty="0" err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implications</a:t>
            </a:r>
            <a:endParaRPr lang="de-DE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EBEE570-1B5E-FFD1-485D-D77E4E6FE7C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50153" y="1319842"/>
            <a:ext cx="8552264" cy="5538158"/>
          </a:xfrm>
        </p:spPr>
        <p:txBody>
          <a:bodyPr rtlCol="0">
            <a:normAutofit/>
          </a:bodyPr>
          <a:lstStyle>
            <a:defPPr>
              <a:defRPr lang="de-DE"/>
            </a:defPPr>
          </a:lstStyle>
          <a:p>
            <a:pPr marL="0" indent="0">
              <a:buNone/>
            </a:pPr>
            <a:endParaRPr lang="de-DE" sz="1800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r>
              <a:rPr lang="de-DE" sz="16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First: </a:t>
            </a:r>
            <a:r>
              <a:rPr lang="de-DE" sz="1600" b="1" dirty="0" err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Guardrail</a:t>
            </a:r>
            <a:endParaRPr lang="de-DE" sz="1600" b="1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lvl="1"/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Always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control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for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fare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(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trip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size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)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when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comparing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groups</a:t>
            </a:r>
            <a:b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</a:br>
            <a:endParaRPr lang="de-DE" sz="1800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r>
              <a:rPr lang="de-DE" sz="16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Second: </a:t>
            </a:r>
            <a:r>
              <a:rPr lang="de-DE" sz="1600" b="1" dirty="0" err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Reduce</a:t>
            </a:r>
            <a:r>
              <a:rPr lang="de-DE" sz="16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de-DE" sz="1600" b="1" dirty="0" err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friction</a:t>
            </a:r>
            <a:r>
              <a:rPr lang="de-DE" sz="16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de-DE" sz="1600" b="1" dirty="0" err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where</a:t>
            </a:r>
            <a:r>
              <a:rPr lang="de-DE" sz="16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possible </a:t>
            </a:r>
          </a:p>
          <a:p>
            <a:pPr lvl="1"/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stop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-and-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go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conditions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lower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the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likelihood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of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tipping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(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tip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de-DE" sz="1600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probability</a:t>
            </a:r>
            <a: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(%))</a:t>
            </a:r>
            <a:br>
              <a:rPr lang="de-DE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</a:br>
            <a:endParaRPr lang="de-DE" sz="1600" dirty="0">
              <a:solidFill>
                <a:schemeClr val="bg1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r>
              <a:rPr lang="de-DE" sz="16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Third: Separate </a:t>
            </a:r>
            <a:r>
              <a:rPr lang="de-DE" sz="1600" b="1" dirty="0" err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decision</a:t>
            </a:r>
            <a:r>
              <a:rPr lang="de-DE" sz="16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de-DE" sz="1600" b="1" dirty="0" err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from</a:t>
            </a:r>
            <a:r>
              <a:rPr lang="de-DE" sz="16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de-DE" sz="1600" b="1" dirty="0" err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amount</a:t>
            </a:r>
            <a:endParaRPr lang="de-DE" sz="1600" b="1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lvl="1"/>
            <a:r>
              <a:rPr lang="en-US" sz="1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Report tip probability and tip % of fare among tipped trips separately—friction mainly changes the share of zero-tip trips</a:t>
            </a:r>
          </a:p>
          <a:p>
            <a:pPr marL="457200" lvl="1" indent="0">
              <a:buNone/>
            </a:pPr>
            <a:endParaRPr lang="de-DE" sz="1600" dirty="0">
              <a:solidFill>
                <a:schemeClr val="bg1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  <a:sym typeface="Wingdings" panose="05000000000000000000" pitchFamily="2" charset="2"/>
              </a:rPr>
              <a:t>The best lever isn’t where, it’s how the ride feels, and which segment the trip is in</a:t>
            </a:r>
            <a:r>
              <a:rPr lang="en-US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  <a:sym typeface="Wingdings" panose="05000000000000000000" pitchFamily="2" charset="2"/>
              </a:rPr>
              <a:t>.</a:t>
            </a:r>
            <a:endParaRPr lang="de-DE" dirty="0">
              <a:solidFill>
                <a:schemeClr val="bg1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 marL="0" indent="0" rtl="0">
              <a:buNone/>
            </a:pPr>
            <a:endParaRPr lang="de-DE" sz="1800" dirty="0">
              <a:solidFill>
                <a:schemeClr val="bg1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 marL="0" indent="0">
              <a:buNone/>
            </a:pPr>
            <a:endParaRPr lang="de-DE" sz="1800" u="sng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27C964F-E2D5-D8E7-C513-C47A7E409DF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18D65601-5AE2-46FC-B138-694DDD2B510D}" type="slidenum">
              <a:rPr lang="de-DE" smtClean="0">
                <a:solidFill>
                  <a:schemeClr val="bg1"/>
                </a:solidFill>
              </a:rPr>
              <a:pPr rtl="0"/>
              <a:t>7</a:t>
            </a:fld>
            <a:endParaRPr lang="de-DE" dirty="0">
              <a:solidFill>
                <a:schemeClr val="bg1"/>
              </a:solidFill>
            </a:endParaRPr>
          </a:p>
        </p:txBody>
      </p: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24E4A1B1-2AE3-703C-D2FD-E6CDF5755140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904509" y="0"/>
            <a:ext cx="0" cy="5943601"/>
          </a:xfrm>
          <a:prstGeom prst="line">
            <a:avLst/>
          </a:prstGeom>
          <a:ln w="15875">
            <a:solidFill>
              <a:srgbClr val="EFB50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43936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5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2B6039CC-484E-A176-0353-319A7485C59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0332" y="0"/>
            <a:ext cx="595223" cy="5943601"/>
          </a:xfrm>
          <a:prstGeom prst="rect">
            <a:avLst/>
          </a:prstGeom>
          <a:solidFill>
            <a:srgbClr val="1625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617D70B7-5237-E34E-F4A9-6603E212BDD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264202" y="0"/>
            <a:ext cx="927798" cy="924448"/>
          </a:xfrm>
          <a:prstGeom prst="rect">
            <a:avLst/>
          </a:prstGeom>
          <a:solidFill>
            <a:srgbClr val="EFB50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FDEBC60-AA38-5DEF-3160-0CAA68F3D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5" y="503853"/>
            <a:ext cx="9150675" cy="1411212"/>
          </a:xfrm>
        </p:spPr>
        <p:txBody>
          <a:bodyPr rtlCol="0">
            <a:normAutofit fontScale="90000"/>
          </a:bodyPr>
          <a:lstStyle>
            <a:defPPr>
              <a:defRPr lang="de-DE"/>
            </a:defPPr>
          </a:lstStyle>
          <a:p>
            <a:pPr>
              <a:lnSpc>
                <a:spcPct val="150000"/>
              </a:lnSpc>
            </a:pPr>
            <a:r>
              <a:rPr lang="de-DE" sz="4000" dirty="0" err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Resultstable</a:t>
            </a:r>
            <a:br>
              <a:rPr lang="de-DE" sz="36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  <a:sym typeface="Wingdings" panose="05000000000000000000" pitchFamily="2" charset="2"/>
              </a:rPr>
            </a:br>
            <a:endParaRPr lang="de-DE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27C964F-E2D5-D8E7-C513-C47A7E409DF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18D65601-5AE2-46FC-B138-694DDD2B510D}" type="slidenum">
              <a:rPr lang="de-DE" smtClean="0">
                <a:solidFill>
                  <a:schemeClr val="bg1"/>
                </a:solidFill>
              </a:rPr>
              <a:pPr rtl="0"/>
              <a:t>8</a:t>
            </a:fld>
            <a:endParaRPr lang="de-DE" dirty="0">
              <a:solidFill>
                <a:schemeClr val="bg1"/>
              </a:solidFill>
            </a:endParaRPr>
          </a:p>
        </p:txBody>
      </p:sp>
      <p:graphicFrame>
        <p:nvGraphicFramePr>
          <p:cNvPr id="9" name="Inhaltsplatzhalter 8">
            <a:extLst>
              <a:ext uri="{FF2B5EF4-FFF2-40B4-BE49-F238E27FC236}">
                <a16:creationId xmlns:a16="http://schemas.microsoft.com/office/drawing/2014/main" id="{5B35A15A-8F6F-27A7-9C14-0E4823F3E8C6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3754406907"/>
              </p:ext>
            </p:extLst>
          </p:nvPr>
        </p:nvGraphicFramePr>
        <p:xfrm>
          <a:off x="313450" y="1570006"/>
          <a:ext cx="11565100" cy="4315368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2058814">
                  <a:extLst>
                    <a:ext uri="{9D8B030D-6E8A-4147-A177-3AD203B41FA5}">
                      <a16:colId xmlns:a16="http://schemas.microsoft.com/office/drawing/2014/main" val="1521493099"/>
                    </a:ext>
                  </a:extLst>
                </a:gridCol>
                <a:gridCol w="1768415">
                  <a:extLst>
                    <a:ext uri="{9D8B030D-6E8A-4147-A177-3AD203B41FA5}">
                      <a16:colId xmlns:a16="http://schemas.microsoft.com/office/drawing/2014/main" val="3792512544"/>
                    </a:ext>
                  </a:extLst>
                </a:gridCol>
                <a:gridCol w="1561381">
                  <a:extLst>
                    <a:ext uri="{9D8B030D-6E8A-4147-A177-3AD203B41FA5}">
                      <a16:colId xmlns:a16="http://schemas.microsoft.com/office/drawing/2014/main" val="4125343384"/>
                    </a:ext>
                  </a:extLst>
                </a:gridCol>
                <a:gridCol w="3096883">
                  <a:extLst>
                    <a:ext uri="{9D8B030D-6E8A-4147-A177-3AD203B41FA5}">
                      <a16:colId xmlns:a16="http://schemas.microsoft.com/office/drawing/2014/main" val="3423701105"/>
                    </a:ext>
                  </a:extLst>
                </a:gridCol>
                <a:gridCol w="3079607">
                  <a:extLst>
                    <a:ext uri="{9D8B030D-6E8A-4147-A177-3AD203B41FA5}">
                      <a16:colId xmlns:a16="http://schemas.microsoft.com/office/drawing/2014/main" val="2680632660"/>
                    </a:ext>
                  </a:extLst>
                </a:gridCol>
              </a:tblGrid>
              <a:tr h="457202"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Hypothesis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 err="1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Metric</a:t>
                      </a:r>
                      <a:r>
                        <a:rPr lang="de-DE" sz="1200" dirty="0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 Focus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 err="1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Result</a:t>
                      </a:r>
                      <a:endParaRPr lang="de-DE" sz="1200" dirty="0">
                        <a:solidFill>
                          <a:schemeClr val="bg1"/>
                        </a:solidFill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Observation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 err="1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Implication</a:t>
                      </a:r>
                      <a:endParaRPr lang="de-DE" sz="1200" dirty="0">
                        <a:solidFill>
                          <a:schemeClr val="bg1"/>
                        </a:solidFill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96497323"/>
                  </a:ext>
                </a:extLst>
              </a:tr>
              <a:tr h="722463">
                <a:tc>
                  <a:txBody>
                    <a:bodyPr/>
                    <a:lstStyle/>
                    <a:p>
                      <a:pPr algn="ctr"/>
                      <a:r>
                        <a:rPr lang="de-DE" sz="1100" dirty="0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Trip Size /</a:t>
                      </a:r>
                      <a:r>
                        <a:rPr lang="de-DE" sz="1100" dirty="0" err="1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tipping</a:t>
                      </a:r>
                      <a:r>
                        <a:rPr lang="de-DE" sz="1100" dirty="0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 </a:t>
                      </a:r>
                      <a:r>
                        <a:rPr lang="de-DE" sz="1100" dirty="0" err="1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mechanics</a:t>
                      </a:r>
                      <a:endParaRPr lang="de-DE" sz="1100" dirty="0">
                        <a:solidFill>
                          <a:schemeClr val="bg1"/>
                        </a:solidFill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kern="1200" dirty="0" err="1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</a:rPr>
                        <a:t>Tip</a:t>
                      </a:r>
                      <a:r>
                        <a:rPr lang="de-DE" sz="1100" kern="1200" dirty="0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</a:rPr>
                        <a:t> % </a:t>
                      </a:r>
                      <a:r>
                        <a:rPr lang="de-DE" sz="1100" kern="1200" dirty="0" err="1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</a:rPr>
                        <a:t>of</a:t>
                      </a:r>
                      <a:r>
                        <a:rPr lang="de-DE" sz="1100" kern="1200" dirty="0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</a:rPr>
                        <a:t> </a:t>
                      </a:r>
                      <a:r>
                        <a:rPr lang="de-DE" sz="1100" kern="1200" dirty="0" err="1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</a:rPr>
                        <a:t>fare</a:t>
                      </a:r>
                      <a:endParaRPr lang="de-DE" sz="1100" kern="1200" dirty="0">
                        <a:solidFill>
                          <a:schemeClr val="bg1"/>
                        </a:solidFill>
                        <a:latin typeface="Segoe UI Semibold" panose="020B0702040204020203" pitchFamily="34" charset="0"/>
                        <a:ea typeface="+mn-ea"/>
                        <a:cs typeface="Segoe UI Semibold" panose="020B07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dirty="0" err="1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Confirmed</a:t>
                      </a:r>
                      <a:r>
                        <a:rPr lang="de-DE" sz="1100" dirty="0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 (</a:t>
                      </a:r>
                      <a:r>
                        <a:rPr lang="de-DE" sz="1100" dirty="0" err="1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measurement</a:t>
                      </a:r>
                      <a:r>
                        <a:rPr lang="de-DE" sz="1100" dirty="0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 </a:t>
                      </a:r>
                      <a:r>
                        <a:rPr lang="de-DE" sz="1100" dirty="0" err="1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effect</a:t>
                      </a:r>
                      <a:r>
                        <a:rPr lang="de-DE" sz="1100" dirty="0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dirty="0" err="1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Tip</a:t>
                      </a:r>
                      <a:r>
                        <a:rPr lang="de-DE" sz="1100" dirty="0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 </a:t>
                      </a:r>
                      <a:r>
                        <a:rPr lang="de-DE" sz="1100" dirty="0" err="1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metrics</a:t>
                      </a:r>
                      <a:r>
                        <a:rPr lang="de-DE" sz="1100" dirty="0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 </a:t>
                      </a:r>
                      <a:r>
                        <a:rPr lang="de-DE" sz="1100" dirty="0" err="1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change</a:t>
                      </a:r>
                      <a:r>
                        <a:rPr lang="de-DE" sz="1100" dirty="0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 </a:t>
                      </a:r>
                      <a:r>
                        <a:rPr lang="de-DE" sz="1100" dirty="0" err="1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strongly</a:t>
                      </a:r>
                      <a:r>
                        <a:rPr lang="de-DE" sz="1100" dirty="0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 </a:t>
                      </a:r>
                      <a:r>
                        <a:rPr lang="de-DE" sz="1100" dirty="0" err="1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with</a:t>
                      </a:r>
                      <a:r>
                        <a:rPr lang="de-DE" sz="1100" dirty="0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 </a:t>
                      </a:r>
                      <a:r>
                        <a:rPr lang="de-DE" sz="1100" dirty="0" err="1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fare</a:t>
                      </a:r>
                      <a:r>
                        <a:rPr lang="de-DE" sz="1100" dirty="0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 </a:t>
                      </a:r>
                      <a:r>
                        <a:rPr lang="de-DE" sz="1100" dirty="0" err="1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size</a:t>
                      </a:r>
                      <a:r>
                        <a:rPr lang="de-DE" sz="1100" dirty="0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; </a:t>
                      </a:r>
                      <a:r>
                        <a:rPr lang="de-DE" sz="1100" dirty="0" err="1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low</a:t>
                      </a:r>
                      <a:r>
                        <a:rPr lang="de-DE" sz="1100" dirty="0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 </a:t>
                      </a:r>
                      <a:r>
                        <a:rPr lang="de-DE" sz="1100" dirty="0" err="1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fares</a:t>
                      </a:r>
                      <a:r>
                        <a:rPr lang="de-DE" sz="1100" dirty="0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 </a:t>
                      </a:r>
                      <a:r>
                        <a:rPr lang="de-DE" sz="1100" dirty="0" err="1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behave</a:t>
                      </a:r>
                      <a:r>
                        <a:rPr lang="de-DE" sz="1100" dirty="0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 non-</a:t>
                      </a:r>
                      <a:r>
                        <a:rPr lang="de-DE" sz="1100" dirty="0" err="1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linearly</a:t>
                      </a:r>
                      <a:endParaRPr lang="de-DE" sz="1100" dirty="0">
                        <a:solidFill>
                          <a:schemeClr val="bg1"/>
                        </a:solidFill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Control for fare bins before comparing contexts.</a:t>
                      </a:r>
                      <a:endParaRPr lang="de-DE" sz="1100" dirty="0">
                        <a:solidFill>
                          <a:schemeClr val="bg1"/>
                        </a:solidFill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43108132"/>
                  </a:ext>
                </a:extLst>
              </a:tr>
              <a:tr h="888521">
                <a:tc>
                  <a:txBody>
                    <a:bodyPr/>
                    <a:lstStyle/>
                    <a:p>
                      <a:pPr algn="ctr"/>
                      <a:r>
                        <a:rPr lang="de-DE" sz="1100" dirty="0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Stress / </a:t>
                      </a:r>
                      <a:r>
                        <a:rPr lang="de-DE" sz="1100" dirty="0" err="1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Friction</a:t>
                      </a:r>
                      <a:endParaRPr lang="de-DE" sz="1100" dirty="0">
                        <a:solidFill>
                          <a:schemeClr val="bg1"/>
                        </a:solidFill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dirty="0" err="1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Tip</a:t>
                      </a:r>
                      <a:r>
                        <a:rPr lang="de-DE" sz="1100" dirty="0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 prob. (%)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dirty="0" err="1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Supported</a:t>
                      </a:r>
                      <a:endParaRPr lang="de-DE" sz="1100" dirty="0">
                        <a:solidFill>
                          <a:schemeClr val="bg1"/>
                        </a:solidFill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As minutes-per-mile increases, tip probability declines (holds within fare buckets).</a:t>
                      </a:r>
                      <a:endParaRPr lang="de-DE" sz="1100" dirty="0">
                        <a:solidFill>
                          <a:schemeClr val="bg1"/>
                        </a:solidFill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Friction mostly affects whether people tip, not the % when they do.</a:t>
                      </a:r>
                      <a:endParaRPr lang="de-DE" sz="1100" dirty="0">
                        <a:solidFill>
                          <a:schemeClr val="bg1"/>
                        </a:solidFill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3024112"/>
                  </a:ext>
                </a:extLst>
              </a:tr>
              <a:tr h="1123591">
                <a:tc>
                  <a:txBody>
                    <a:bodyPr/>
                    <a:lstStyle/>
                    <a:p>
                      <a:pPr algn="ctr"/>
                      <a:r>
                        <a:rPr lang="de-DE" sz="1100" dirty="0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Airport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dirty="0" err="1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Tip</a:t>
                      </a:r>
                      <a:r>
                        <a:rPr lang="de-DE" sz="1100" dirty="0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 prob.(%) </a:t>
                      </a:r>
                      <a:br>
                        <a:rPr lang="de-DE" sz="1100" dirty="0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</a:br>
                      <a:r>
                        <a:rPr lang="de-DE" sz="1100" dirty="0" err="1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Tip</a:t>
                      </a:r>
                      <a:r>
                        <a:rPr lang="de-DE" sz="1100" dirty="0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 % </a:t>
                      </a:r>
                      <a:r>
                        <a:rPr lang="de-DE" sz="1100" dirty="0" err="1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of</a:t>
                      </a:r>
                      <a:r>
                        <a:rPr lang="de-DE" sz="1100" dirty="0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 </a:t>
                      </a:r>
                      <a:r>
                        <a:rPr lang="de-DE" sz="1100" dirty="0" err="1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fare</a:t>
                      </a:r>
                      <a:endParaRPr lang="de-DE" sz="1100" dirty="0">
                        <a:solidFill>
                          <a:schemeClr val="bg1"/>
                        </a:solidFill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dirty="0" err="1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Conditional</a:t>
                      </a:r>
                      <a:endParaRPr lang="de-DE" sz="1100" dirty="0">
                        <a:solidFill>
                          <a:schemeClr val="bg1"/>
                        </a:solidFill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Overall looks flat/lower; within fare bins, airports often tip higher in mid/high fares.</a:t>
                      </a:r>
                      <a:endParaRPr lang="de-DE" sz="1100" dirty="0">
                        <a:solidFill>
                          <a:schemeClr val="bg1"/>
                        </a:solidFill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Airport uplift is segment-specific, not universal.</a:t>
                      </a:r>
                      <a:endParaRPr lang="de-DE" sz="1100" dirty="0">
                        <a:solidFill>
                          <a:schemeClr val="bg1"/>
                        </a:solidFill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1601535"/>
                  </a:ext>
                </a:extLst>
              </a:tr>
              <a:tr h="1123591">
                <a:tc>
                  <a:txBody>
                    <a:bodyPr/>
                    <a:lstStyle/>
                    <a:p>
                      <a:pPr algn="ctr"/>
                      <a:r>
                        <a:rPr lang="de-DE" sz="1100" dirty="0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BID </a:t>
                      </a:r>
                      <a:r>
                        <a:rPr lang="de-DE" sz="1100" dirty="0" err="1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eposure</a:t>
                      </a:r>
                      <a:endParaRPr lang="de-DE" sz="1100" dirty="0">
                        <a:solidFill>
                          <a:schemeClr val="bg1"/>
                        </a:solidFill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100" dirty="0" err="1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Tip</a:t>
                      </a:r>
                      <a:r>
                        <a:rPr lang="de-DE" sz="1100" dirty="0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 </a:t>
                      </a:r>
                      <a:r>
                        <a:rPr lang="de-DE" sz="1100" dirty="0" err="1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probability</a:t>
                      </a:r>
                      <a:r>
                        <a:rPr lang="de-DE" sz="1100" dirty="0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 (%) </a:t>
                      </a:r>
                      <a:br>
                        <a:rPr lang="de-DE" sz="1100" dirty="0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</a:br>
                      <a:r>
                        <a:rPr lang="de-DE" sz="1100" dirty="0" err="1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Tip</a:t>
                      </a:r>
                      <a:r>
                        <a:rPr lang="de-DE" sz="1100" dirty="0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 % </a:t>
                      </a:r>
                      <a:r>
                        <a:rPr lang="de-DE" sz="1100" dirty="0" err="1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of</a:t>
                      </a:r>
                      <a:r>
                        <a:rPr lang="de-DE" sz="1100" dirty="0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 </a:t>
                      </a:r>
                      <a:r>
                        <a:rPr lang="de-DE" sz="1100" dirty="0" err="1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fare</a:t>
                      </a:r>
                      <a:endParaRPr lang="de-DE" sz="1100" dirty="0">
                        <a:solidFill>
                          <a:schemeClr val="bg1"/>
                        </a:solidFill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dirty="0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Threshold, not dose-response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Main split is no exposure vs some exposure; more overlap doesn’t reliably add more.</a:t>
                      </a:r>
                      <a:endParaRPr lang="de-DE" sz="1100" dirty="0">
                        <a:solidFill>
                          <a:schemeClr val="bg1"/>
                        </a:solidFill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BID is a context marker; “more overlap” isn’t a scalable lever.</a:t>
                      </a:r>
                      <a:endParaRPr lang="de-DE" sz="1100" dirty="0">
                        <a:solidFill>
                          <a:schemeClr val="bg1"/>
                        </a:solidFill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0276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84263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625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454C9E-20FB-B999-9303-C71D1334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3827" y="3508311"/>
            <a:ext cx="9923770" cy="1438762"/>
          </a:xfrm>
        </p:spPr>
        <p:txBody>
          <a:bodyPr rtlCol="0" anchor="b">
            <a:normAutofit/>
          </a:bodyPr>
          <a:lstStyle>
            <a:defPPr>
              <a:defRPr lang="de-DE"/>
            </a:defPPr>
          </a:lstStyle>
          <a:p>
            <a:pPr rtl="0"/>
            <a:r>
              <a:rPr lang="de-DE" dirty="0" err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Thank</a:t>
            </a:r>
            <a:r>
              <a:rPr lang="de-DE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de-DE" dirty="0" err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you</a:t>
            </a:r>
            <a:r>
              <a:rPr lang="de-DE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de-DE" dirty="0" err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for</a:t>
            </a:r>
            <a:r>
              <a:rPr lang="de-DE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de-DE" dirty="0" err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your</a:t>
            </a:r>
            <a:r>
              <a:rPr lang="de-DE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de-DE" dirty="0" err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attention</a:t>
            </a:r>
            <a:r>
              <a:rPr lang="de-DE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!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D36B95E-AC92-19B9-4FFE-B2AFB6B94F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53828" y="5228488"/>
            <a:ext cx="9923770" cy="155292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0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Capstone </a:t>
            </a:r>
            <a:r>
              <a:rPr lang="en-US" sz="1000" b="1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Projekt</a:t>
            </a:r>
            <a:r>
              <a:rPr lang="en-US" sz="10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: NYC Yellow Taxi Tipping -- How does trip-size and friction affect tipping behavior in NYC yellow taxis?</a:t>
            </a:r>
          </a:p>
          <a:p>
            <a:pPr>
              <a:lnSpc>
                <a:spcPct val="150000"/>
              </a:lnSpc>
            </a:pPr>
            <a:r>
              <a:rPr lang="en-US" sz="10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Creator: Patrick Paubandt</a:t>
            </a:r>
          </a:p>
          <a:p>
            <a:pPr>
              <a:lnSpc>
                <a:spcPct val="150000"/>
              </a:lnSpc>
            </a:pPr>
            <a:r>
              <a:rPr lang="en-US" sz="10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Institution: </a:t>
            </a:r>
            <a:r>
              <a:rPr lang="en-US" sz="10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  <a:hlinkClick r:id="rId3"/>
              </a:rPr>
              <a:t>Neue </a:t>
            </a:r>
            <a:r>
              <a:rPr lang="en-US" sz="1000" b="1" dirty="0" err="1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  <a:hlinkClick r:id="rId3"/>
              </a:rPr>
              <a:t>Fische</a:t>
            </a:r>
            <a:r>
              <a:rPr lang="en-US" sz="10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  <a:hlinkClick r:id="rId3"/>
              </a:rPr>
              <a:t> / Spiced Academy</a:t>
            </a:r>
            <a:endParaRPr lang="en-US" sz="1000" b="1" dirty="0">
              <a:solidFill>
                <a:schemeClr val="bg1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0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GitHub repository: </a:t>
            </a:r>
            <a:r>
              <a:rPr lang="en-US" sz="10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  <a:hlinkClick r:id="rId4"/>
              </a:rPr>
              <a:t>https://github.com/PatrickPaubandt/Capstone-project-NYCTaxi</a:t>
            </a:r>
            <a:endParaRPr lang="en-US" sz="1000" b="1" dirty="0">
              <a:solidFill>
                <a:schemeClr val="bg1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0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Data Sources: </a:t>
            </a:r>
            <a:r>
              <a:rPr lang="en-US" sz="10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  <a:hlinkClick r:id="rId5"/>
              </a:rPr>
              <a:t>New York Yellow Taxi Trip Data</a:t>
            </a:r>
            <a:r>
              <a:rPr lang="en-US" sz="10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| </a:t>
            </a:r>
            <a:r>
              <a:rPr lang="en-US" sz="10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  <a:hlinkClick r:id="rId6"/>
              </a:rPr>
              <a:t>Taxi Zone Lookup Table</a:t>
            </a:r>
            <a:r>
              <a:rPr lang="en-US" sz="10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| </a:t>
            </a:r>
            <a:r>
              <a:rPr lang="en-US" sz="10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  <a:hlinkClick r:id="rId7"/>
              </a:rPr>
              <a:t>BID Data</a:t>
            </a:r>
            <a:endParaRPr lang="en-US" sz="1000" b="1" dirty="0">
              <a:solidFill>
                <a:schemeClr val="bg1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000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Pictures: </a:t>
            </a:r>
          </a:p>
        </p:txBody>
      </p:sp>
      <p:pic>
        <p:nvPicPr>
          <p:cNvPr id="10" name="Bildplatzhalter 9" descr="Ein Bild, das Gebäude, draußen, Fahrzeug, Landfahrzeug enthält.&#10;&#10;KI-generierte Inhalte können fehlerhaft sein.">
            <a:extLst>
              <a:ext uri="{FF2B5EF4-FFF2-40B4-BE49-F238E27FC236}">
                <a16:creationId xmlns:a16="http://schemas.microsoft.com/office/drawing/2014/main" id="{19757D61-979A-5EAD-0683-288340BB0B8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8"/>
          <a:srcRect l="-388" t="49618" r="388" b="670"/>
          <a:stretch/>
        </p:blipFill>
        <p:spPr>
          <a:xfrm>
            <a:off x="784972" y="-391886"/>
            <a:ext cx="10361995" cy="3429000"/>
          </a:xfrm>
        </p:spPr>
      </p:pic>
      <p:sp>
        <p:nvSpPr>
          <p:cNvPr id="13" name="Rechteck 12">
            <a:extLst>
              <a:ext uri="{FF2B5EF4-FFF2-40B4-BE49-F238E27FC236}">
                <a16:creationId xmlns:a16="http://schemas.microsoft.com/office/drawing/2014/main" id="{5381A484-327A-29AF-6A2B-E20B4DD5041C}"/>
              </a:ext>
            </a:extLst>
          </p:cNvPr>
          <p:cNvSpPr/>
          <p:nvPr/>
        </p:nvSpPr>
        <p:spPr>
          <a:xfrm>
            <a:off x="11264202" y="0"/>
            <a:ext cx="927798" cy="924448"/>
          </a:xfrm>
          <a:prstGeom prst="rect">
            <a:avLst/>
          </a:prstGeom>
          <a:solidFill>
            <a:srgbClr val="EFB50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6524A8A9-E2F5-A543-B68D-909180632958}"/>
              </a:ext>
            </a:extLst>
          </p:cNvPr>
          <p:cNvCxnSpPr/>
          <p:nvPr/>
        </p:nvCxnSpPr>
        <p:spPr>
          <a:xfrm>
            <a:off x="804028" y="0"/>
            <a:ext cx="0" cy="5943601"/>
          </a:xfrm>
          <a:prstGeom prst="line">
            <a:avLst/>
          </a:prstGeom>
          <a:ln w="15875">
            <a:solidFill>
              <a:srgbClr val="EFB50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2157546"/>
      </p:ext>
    </p:extLst>
  </p:cSld>
  <p:clrMapOvr>
    <a:masterClrMapping/>
  </p:clrMapOvr>
</p:sld>
</file>

<file path=ppt/theme/theme1.xml><?xml version="1.0" encoding="utf-8"?>
<a:theme xmlns:a="http://schemas.openxmlformats.org/drawingml/2006/main" name="Benutzerdefiniert">
  <a:themeElements>
    <a:clrScheme name="Custom 2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8696B"/>
      </a:accent1>
      <a:accent2>
        <a:srgbClr val="95B8BF"/>
      </a:accent2>
      <a:accent3>
        <a:srgbClr val="BFD4D9"/>
      </a:accent3>
      <a:accent4>
        <a:srgbClr val="5B4839"/>
      </a:accent4>
      <a:accent5>
        <a:srgbClr val="C3A398"/>
      </a:accent5>
      <a:accent6>
        <a:srgbClr val="CA553E"/>
      </a:accent6>
      <a:hlink>
        <a:srgbClr val="0563C1"/>
      </a:hlink>
      <a:folHlink>
        <a:srgbClr val="954F72"/>
      </a:folHlink>
    </a:clrScheme>
    <a:fontScheme name="Custom 30">
      <a:majorFont>
        <a:latin typeface="Tisa Offc Serif Pro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accent5">
              <a:lumMod val="20000"/>
              <a:lumOff val="8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_72938327_TF78544816_Win32" id="{A86D2529-0102-4786-A7BE-258984D63721}" vid="{FE3B0FAD-7AD0-46AD-A4CD-14C47D9E5FB9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FDB7358-0BCB-4DEB-B717-C1D7CC555F0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6DE3707C-8CAB-4302-B7E1-D32E1543E05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69E9DE5-EFFE-4262-A023-32732F0B66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Moderne Konferenzpräsentation</Template>
  <TotalTime>0</TotalTime>
  <Words>781</Words>
  <Application>Microsoft Office PowerPoint</Application>
  <PresentationFormat>Breitbild</PresentationFormat>
  <Paragraphs>105</Paragraphs>
  <Slides>9</Slides>
  <Notes>9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6" baseType="lpstr">
      <vt:lpstr>Arial</vt:lpstr>
      <vt:lpstr>Calibri</vt:lpstr>
      <vt:lpstr>Segoe UI Semibold</vt:lpstr>
      <vt:lpstr>Segoe UI Semilight</vt:lpstr>
      <vt:lpstr>Tisa Offc Serif Pro</vt:lpstr>
      <vt:lpstr>Univers Light</vt:lpstr>
      <vt:lpstr>Benutzerdefiniert</vt:lpstr>
      <vt:lpstr>NYC Yellow Taxi Tipping</vt:lpstr>
      <vt:lpstr>NYC Yellow Taxi trips: Data &amp; Scope</vt:lpstr>
      <vt:lpstr>NYC Yellow Taxi trips: Data &amp; Scope</vt:lpstr>
      <vt:lpstr>Analysis flow &amp; hypotheses Tipping mechanics  Hypothesis tests  Conclusion </vt:lpstr>
      <vt:lpstr>Let‘s Continue in Tableau </vt:lpstr>
      <vt:lpstr>Key Findings</vt:lpstr>
      <vt:lpstr>So what? Practical implications</vt:lpstr>
      <vt:lpstr>Resultstable </vt:lpstr>
      <vt:lpstr>Thank you for your attention!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Patrick Paubandt</dc:creator>
  <cp:lastModifiedBy>Patrick Paubandt</cp:lastModifiedBy>
  <cp:revision>7</cp:revision>
  <dcterms:created xsi:type="dcterms:W3CDTF">2026-02-22T10:25:59Z</dcterms:created>
  <dcterms:modified xsi:type="dcterms:W3CDTF">2026-02-24T11:02:09Z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