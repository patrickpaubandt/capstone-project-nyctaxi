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22" r:id="rId5"/>
    <p:sldId id="318" r:id="rId6"/>
    <p:sldId id="324" r:id="rId7"/>
    <p:sldId id="325" r:id="rId8"/>
    <p:sldId id="326" r:id="rId9"/>
    <p:sldId id="328" r:id="rId10"/>
    <p:sldId id="329" r:id="rId11"/>
    <p:sldId id="327" r:id="rId12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96B"/>
    <a:srgbClr val="16253D"/>
    <a:srgbClr val="EFB509"/>
    <a:srgbClr val="95B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44" autoAdjust="0"/>
    <p:restoredTop sz="95388" autoAdjust="0"/>
  </p:normalViewPr>
  <p:slideViewPr>
    <p:cSldViewPr snapToGrid="0">
      <p:cViewPr varScale="1">
        <p:scale>
          <a:sx n="117" d="100"/>
          <a:sy n="117" d="100"/>
        </p:scale>
        <p:origin x="822" y="10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401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B045831F-6AD1-4DED-BF09-35BFE3A3C66F}" type="datetime1">
              <a:rPr lang="de-DE" smtClean="0"/>
              <a:t>23.02.2026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00AC623C-86E0-4A85-83FB-F4A716956FD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fld id="{4EAF0040-DFA1-4580-86F0-5CFB9E4596B0}" type="datetime1">
              <a:rPr lang="de-DE" smtClean="0"/>
              <a:pPr/>
              <a:t>23.02.2026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C37D7554-D10C-4E29-B8E6-BB7111FA614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234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3503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4561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6533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1695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62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8921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3067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de-DE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" name="Inhaltsplatzhalt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Untertitel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de-DE"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de-DE"/>
              <a:t>Untertitel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" name="Inhaltsplatzhalt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de-DE"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de-DE"/>
              <a:t>Untertitel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" name="Inhaltsplatzhalt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Inhaltsplatzhalt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de-DE"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de-DE"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de-DE"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de-DE"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 und Inhal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Tabel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4" name="Tabellenplatzhalt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de-DE" sz="2000"/>
            </a:lvl1pPr>
          </a:lstStyle>
          <a:p>
            <a:pPr rtl="0"/>
            <a:r>
              <a:rPr lang="de-DE"/>
              <a:t>Tabelle durch Klicken auf Symbol hinzufügen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2000"/>
            </a:lvl1pPr>
            <a:lvl2pPr>
              <a:lnSpc>
                <a:spcPct val="100000"/>
              </a:lnSpc>
              <a:spcAft>
                <a:spcPts val="600"/>
              </a:spcAft>
              <a:defRPr lang="de-DE"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de-DE" sz="2000"/>
            </a:lvl3pPr>
            <a:lvl4pPr>
              <a:lnSpc>
                <a:spcPct val="100000"/>
              </a:lnSpc>
              <a:spcAft>
                <a:spcPts val="1200"/>
              </a:spcAft>
              <a:defRPr lang="de-DE" sz="2000"/>
            </a:lvl4pPr>
            <a:lvl5pPr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abel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Tabellenplatzhalter 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de-DE" sz="2400"/>
            </a:lvl1pPr>
          </a:lstStyle>
          <a:p>
            <a:pPr rtl="0"/>
            <a:r>
              <a:rPr lang="de-DE"/>
              <a:t>Tabelle durch Klicken auf Symbol hinzufügen</a:t>
            </a:r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de-DE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NYC Yellow Taxi Tipping</a:t>
            </a: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D36B95E-AC92-19B9-4FFE-B2AFB6B94F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3828" y="5228488"/>
            <a:ext cx="9923770" cy="136825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How does trip-size and friction affect tipping behavior in NYC yellow taxis?</a:t>
            </a:r>
          </a:p>
        </p:txBody>
      </p:sp>
      <p:pic>
        <p:nvPicPr>
          <p:cNvPr id="10" name="Bildplatzhalter 9" descr="Ein Bild, das Gebäude, draußen, Fahrzeug, Landfahrzeug enthält.&#10;&#10;KI-generierte Inhalte können fehlerhaft sein.">
            <a:extLst>
              <a:ext uri="{FF2B5EF4-FFF2-40B4-BE49-F238E27FC236}">
                <a16:creationId xmlns:a16="http://schemas.microsoft.com/office/drawing/2014/main" id="{19757D61-979A-5EAD-0683-288340BB0B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-388" t="49618" r="388" b="670"/>
          <a:stretch/>
        </p:blipFill>
        <p:spPr>
          <a:xfrm>
            <a:off x="784972" y="-391886"/>
            <a:ext cx="10361995" cy="3429000"/>
          </a:xfr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381A484-327A-29AF-6A2B-E20B4DD5041C}"/>
              </a:ext>
            </a:extLst>
          </p:cNvPr>
          <p:cNvSpPr/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524A8A9-E2F5-A543-B68D-909180632958}"/>
              </a:ext>
            </a:extLst>
          </p:cNvPr>
          <p:cNvCxnSpPr/>
          <p:nvPr/>
        </p:nvCxnSpPr>
        <p:spPr>
          <a:xfrm>
            <a:off x="804028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NYC Yellow Taxi trips: Data &amp; </a:t>
            </a:r>
            <a:r>
              <a:rPr lang="de-DE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rtlCol="0"/>
          <a:lstStyle>
            <a:defPPr>
              <a:defRPr lang="de-DE"/>
            </a:defPPr>
          </a:lstStyle>
          <a:p>
            <a:pPr marL="0" indent="0" rtl="0">
              <a:buNone/>
            </a:pPr>
            <a:endParaRPr lang="de-DE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Dataset: 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NYC Yellow Taxi trips (Jul – Sep 2025)</a:t>
            </a:r>
          </a:p>
          <a:p>
            <a:pPr rtl="0">
              <a:lnSpc>
                <a:spcPct val="150000"/>
              </a:lnSpc>
            </a:pP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Enrichment: 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Taxi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Zones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(PU/DO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zones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 + BID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boundaries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zone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overlap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%)</a:t>
            </a:r>
            <a:endParaRPr lang="de-DE" sz="18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Focus: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tipping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behaviour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in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card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paid trips</a:t>
            </a:r>
          </a:p>
          <a:p>
            <a:pPr rtl="0">
              <a:lnSpc>
                <a:spcPct val="150000"/>
              </a:lnSpc>
            </a:pP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Unit </a:t>
            </a:r>
            <a:r>
              <a:rPr lang="de-DE" sz="18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analysis</a:t>
            </a: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: 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one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record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=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one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trip</a:t>
            </a:r>
            <a:endParaRPr lang="de-DE" sz="18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Output: 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Tableau Story (Hypothesis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tests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</a:t>
            </a:r>
            <a:endParaRPr lang="de-DE" sz="18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2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NYC Yellow Taxi trips: Data &amp; </a:t>
            </a:r>
            <a:r>
              <a:rPr lang="de-DE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611255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r>
              <a:rPr lang="de-DE" sz="18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From</a:t>
            </a:r>
            <a:r>
              <a:rPr lang="de-DE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8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raw</a:t>
            </a:r>
            <a:r>
              <a:rPr lang="de-DE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8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</a:t>
            </a:r>
            <a:r>
              <a:rPr lang="de-DE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8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analysis</a:t>
            </a:r>
            <a:r>
              <a:rPr lang="de-DE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sample</a:t>
            </a:r>
          </a:p>
          <a:p>
            <a:pPr lvl="1"/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Raw trips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loaded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: 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~ 11.7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million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rows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Analysis sample: 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~ 6.8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million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rows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(-42 %)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Metrics</a:t>
            </a: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probability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(%) 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share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trips 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with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tip_amount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&gt; 0</a:t>
            </a:r>
          </a:p>
          <a:p>
            <a:pPr lvl="1"/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%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tip_amount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/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pre-tip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total in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this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analysis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</a:t>
            </a:r>
          </a:p>
          <a:p>
            <a:pPr lvl="1"/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%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 (P99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capped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 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used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to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reduce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extreme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outliers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ans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stabilizie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averages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Payment 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Cash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not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reliably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captured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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excluded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to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reduce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measurement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bias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rtl="0">
              <a:buNone/>
            </a:pPr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endParaRPr lang="de-DE" sz="1800" u="sng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3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D68B1C8-6B5C-DD9E-52EA-DF7C468E81D9}"/>
              </a:ext>
            </a:extLst>
          </p:cNvPr>
          <p:cNvGrpSpPr/>
          <p:nvPr/>
        </p:nvGrpSpPr>
        <p:grpSpPr>
          <a:xfrm>
            <a:off x="6981191" y="2543912"/>
            <a:ext cx="4472792" cy="1438598"/>
            <a:chOff x="6981191" y="2543912"/>
            <a:chExt cx="4472792" cy="1438598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4B880B77-42DF-9506-FCB5-4514FEFB8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1040" r="28771" b="10485"/>
            <a:stretch/>
          </p:blipFill>
          <p:spPr>
            <a:xfrm>
              <a:off x="6981191" y="2543912"/>
              <a:ext cx="4472792" cy="1092036"/>
            </a:xfrm>
            <a:prstGeom prst="rect">
              <a:avLst/>
            </a:prstGeom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76C3B051-D7FE-7CB4-E6DD-1DE9056D2E3F}"/>
                </a:ext>
              </a:extLst>
            </p:cNvPr>
            <p:cNvSpPr txBox="1"/>
            <p:nvPr/>
          </p:nvSpPr>
          <p:spPr>
            <a:xfrm>
              <a:off x="7250764" y="3643956"/>
              <a:ext cx="39336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Cash </a:t>
              </a:r>
              <a:r>
                <a:rPr lang="de-DE" sz="1600" b="1" dirty="0" err="1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tips</a:t>
              </a:r>
              <a:r>
                <a:rPr lang="de-DE" sz="1600" b="1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de-DE" sz="1600" b="1" dirty="0" err="1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often</a:t>
              </a:r>
              <a:r>
                <a:rPr lang="de-DE" sz="1600" b="1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de-DE" sz="1600" b="1" dirty="0" err="1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appear</a:t>
              </a:r>
              <a:r>
                <a:rPr lang="de-DE" sz="1600" b="1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de-DE" sz="1600" b="1" dirty="0" err="1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as</a:t>
              </a:r>
              <a:r>
                <a:rPr lang="de-DE" sz="1600" b="1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0 in TLC </a:t>
              </a:r>
              <a:r>
                <a:rPr lang="de-DE" sz="1600" b="1" dirty="0" err="1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records</a:t>
              </a:r>
              <a:endPara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642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rtlCol="0">
            <a:normAutofit fontScale="90000"/>
          </a:bodyPr>
          <a:lstStyle>
            <a:defPPr>
              <a:defRPr lang="de-DE"/>
            </a:defPPr>
          </a:lstStyle>
          <a:p>
            <a:pPr>
              <a:lnSpc>
                <a:spcPct val="150000"/>
              </a:lnSpc>
            </a:pP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Analysis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flow</a:t>
            </a: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&amp;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hypotheses</a:t>
            </a:r>
            <a:b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Tipping </a:t>
            </a:r>
            <a:r>
              <a:rPr lang="de-DE" sz="18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mechanics</a:t>
            </a: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 Hypothesis </a:t>
            </a:r>
            <a:r>
              <a:rPr lang="de-DE" sz="18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tests</a:t>
            </a: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 </a:t>
            </a:r>
            <a:r>
              <a:rPr lang="de-DE" sz="18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Conclusion</a:t>
            </a:r>
            <a:br>
              <a:rPr lang="de-DE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</a:b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611255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0" indent="0" algn="ctr">
              <a:buNone/>
            </a:pPr>
            <a:endParaRPr lang="en-US" sz="18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Research question: How does trip context — especially trip size and friction — shape tipping behavior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Hypothesis: </a:t>
            </a:r>
          </a:p>
          <a:p>
            <a:pPr lvl="1"/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H1 Tipping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mechanics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trip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size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small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follow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minimum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-pattern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which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inflates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H1 Stress/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Friction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higher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minutes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-per-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mile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reduces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probability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tipping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r>
              <a:rPr lang="de-DE" sz="1600" b="1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H3 Airport = 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Airport (JFK/LGA)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trips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tips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more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than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non-airport trips</a:t>
            </a:r>
          </a:p>
          <a:p>
            <a:pPr lvl="1"/>
            <a:r>
              <a:rPr lang="de-DE" sz="1600" b="1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H4 BID </a:t>
            </a:r>
            <a:r>
              <a:rPr lang="de-DE" sz="1600" b="1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exposure</a:t>
            </a:r>
            <a:r>
              <a:rPr lang="de-DE" sz="1600" b="1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=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higher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BID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overlap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at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dropoff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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higher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tipping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rtl="0">
              <a:buNone/>
            </a:pPr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endParaRPr lang="de-DE" sz="1800" u="sng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4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60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662" y="2234681"/>
            <a:ext cx="9150675" cy="1474237"/>
          </a:xfrm>
        </p:spPr>
        <p:txBody>
          <a:bodyPr rtlCol="0">
            <a:normAutofit fontScale="90000"/>
          </a:bodyPr>
          <a:lstStyle>
            <a:defPPr>
              <a:defRPr lang="de-DE"/>
            </a:defPPr>
          </a:lstStyle>
          <a:p>
            <a:pPr algn="ctr">
              <a:lnSpc>
                <a:spcPct val="150000"/>
              </a:lnSpc>
            </a:pP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Let‘s</a:t>
            </a: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Continue</a:t>
            </a: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in Tableau</a:t>
            </a:r>
            <a:br>
              <a:rPr lang="de-DE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</a:b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5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91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241541"/>
            <a:ext cx="9150675" cy="802256"/>
          </a:xfrm>
        </p:spPr>
        <p:txBody>
          <a:bodyPr rtlCol="0">
            <a:normAutofit fontScale="90000"/>
          </a:bodyPr>
          <a:lstStyle>
            <a:defPPr>
              <a:defRPr lang="de-DE"/>
            </a:defPPr>
          </a:lstStyle>
          <a:p>
            <a:pPr>
              <a:lnSpc>
                <a:spcPct val="150000"/>
              </a:lnSpc>
            </a:pP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Findings</a:t>
            </a: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1319842"/>
            <a:ext cx="8552264" cy="5538158"/>
          </a:xfrm>
        </p:spPr>
        <p:txBody>
          <a:bodyPr rtlCol="0">
            <a:normAutofit fontScale="85000" lnSpcReduction="20000"/>
          </a:bodyPr>
          <a:lstStyle>
            <a:defPPr>
              <a:defRPr lang="de-DE"/>
            </a:defPPr>
          </a:lstStyle>
          <a:p>
            <a:pPr marL="0" indent="0">
              <a:buNone/>
            </a:pP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(H1) Tipping 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Mechanics</a:t>
            </a: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Trip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size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is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key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confounder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. 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Small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show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step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-like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tipping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(~$2),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which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inflates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%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on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small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trips – so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comparisons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must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made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within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bins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H2 Stress/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Friction</a:t>
            </a: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Stress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reduces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tipping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probability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consistently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,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even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within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trip-size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buckets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%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moves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less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;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clearer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signal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is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whether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people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or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not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</a:p>
          <a:p>
            <a:pPr marL="0" indent="0">
              <a:buNone/>
            </a:pP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H3 Airport</a:t>
            </a:r>
          </a:p>
          <a:p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Airport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uplift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is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conditional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Overall averages can look flat or even lower because airport trips have much higher fares, but </a:t>
            </a:r>
            <a:r>
              <a:rPr lang="en-US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within fare bins airport trips often show higher tipping probability</a:t>
            </a: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  <a:b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H4 Business 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improvement</a:t>
            </a:r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districts</a:t>
            </a: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BID is not dose–response. Increasing BID overlap does not steadily increase tipping; the pattern is closer to a threshold effect (0% vs &gt;0%), strongest from $30–50 upward, and more consistent at </a:t>
            </a:r>
            <a:r>
              <a:rPr lang="en-US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dropoff</a:t>
            </a: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than pickup.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rtl="0">
              <a:buNone/>
            </a:pPr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endParaRPr lang="de-DE" sz="1800" u="sng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6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366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241541"/>
            <a:ext cx="9150675" cy="802256"/>
          </a:xfrm>
        </p:spPr>
        <p:txBody>
          <a:bodyPr rtlCol="0">
            <a:normAutofit fontScale="90000"/>
          </a:bodyPr>
          <a:lstStyle>
            <a:defPPr>
              <a:defRPr lang="de-DE"/>
            </a:defPPr>
          </a:lstStyle>
          <a:p>
            <a:pPr>
              <a:lnSpc>
                <a:spcPct val="150000"/>
              </a:lnSpc>
            </a:pP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So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</a:t>
            </a: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?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Practical</a:t>
            </a: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implications</a:t>
            </a: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1319842"/>
            <a:ext cx="8552264" cy="553815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0" indent="0">
              <a:buNone/>
            </a:pP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First: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Guardrail</a:t>
            </a:r>
            <a:endParaRPr lang="de-DE" sz="16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Always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control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trip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size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when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comparing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groups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Second: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Reduce</a:t>
            </a:r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friction</a:t>
            </a:r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where</a:t>
            </a:r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possible </a:t>
            </a:r>
          </a:p>
          <a:p>
            <a:pPr lvl="1"/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stop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-and-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go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conditions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lower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likelihood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tipping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probability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(%))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Third: Separate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decision</a:t>
            </a:r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from</a:t>
            </a:r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amount</a:t>
            </a:r>
            <a:endParaRPr lang="de-DE" sz="16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Report tip probability and tip % of fare among tipped trips separately—friction mainly changes the share of zero-tip trips</a:t>
            </a:r>
          </a:p>
          <a:p>
            <a:pPr marL="457200" lvl="1" indent="0">
              <a:buNone/>
            </a:pP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The best lever isn’t where, it’s how the ride feels, and which segment the trip is in</a:t>
            </a:r>
            <a:r>
              <a:rPr lang="en-US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.</a:t>
            </a:r>
            <a:endParaRPr lang="de-DE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rtl="0">
              <a:buNone/>
            </a:pPr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endParaRPr lang="de-DE" sz="1800" u="sng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7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393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2B6039CC-484E-A176-0353-319A7485C5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0332" y="0"/>
            <a:ext cx="595223" cy="5943601"/>
          </a:xfrm>
          <a:prstGeom prst="rect">
            <a:avLst/>
          </a:prstGeom>
          <a:solidFill>
            <a:srgbClr val="1625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1411212"/>
          </a:xfrm>
        </p:spPr>
        <p:txBody>
          <a:bodyPr rtlCol="0">
            <a:normAutofit fontScale="90000"/>
          </a:bodyPr>
          <a:lstStyle>
            <a:defPPr>
              <a:defRPr lang="de-DE"/>
            </a:defPPr>
          </a:lstStyle>
          <a:p>
            <a:pPr>
              <a:lnSpc>
                <a:spcPct val="150000"/>
              </a:lnSpc>
            </a:pP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Resultstable</a:t>
            </a:r>
            <a:br>
              <a:rPr lang="de-DE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</a:b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8</a:t>
            </a:fld>
            <a:endParaRPr lang="de-DE" dirty="0">
              <a:solidFill>
                <a:schemeClr val="bg1"/>
              </a:solidFill>
            </a:endParaRPr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5B35A15A-8F6F-27A7-9C14-0E4823F3E8C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754406907"/>
              </p:ext>
            </p:extLst>
          </p:nvPr>
        </p:nvGraphicFramePr>
        <p:xfrm>
          <a:off x="313450" y="1570006"/>
          <a:ext cx="11565100" cy="431536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58814">
                  <a:extLst>
                    <a:ext uri="{9D8B030D-6E8A-4147-A177-3AD203B41FA5}">
                      <a16:colId xmlns:a16="http://schemas.microsoft.com/office/drawing/2014/main" val="1521493099"/>
                    </a:ext>
                  </a:extLst>
                </a:gridCol>
                <a:gridCol w="1768415">
                  <a:extLst>
                    <a:ext uri="{9D8B030D-6E8A-4147-A177-3AD203B41FA5}">
                      <a16:colId xmlns:a16="http://schemas.microsoft.com/office/drawing/2014/main" val="3792512544"/>
                    </a:ext>
                  </a:extLst>
                </a:gridCol>
                <a:gridCol w="1561381">
                  <a:extLst>
                    <a:ext uri="{9D8B030D-6E8A-4147-A177-3AD203B41FA5}">
                      <a16:colId xmlns:a16="http://schemas.microsoft.com/office/drawing/2014/main" val="4125343384"/>
                    </a:ext>
                  </a:extLst>
                </a:gridCol>
                <a:gridCol w="3096883">
                  <a:extLst>
                    <a:ext uri="{9D8B030D-6E8A-4147-A177-3AD203B41FA5}">
                      <a16:colId xmlns:a16="http://schemas.microsoft.com/office/drawing/2014/main" val="3423701105"/>
                    </a:ext>
                  </a:extLst>
                </a:gridCol>
                <a:gridCol w="3079607">
                  <a:extLst>
                    <a:ext uri="{9D8B030D-6E8A-4147-A177-3AD203B41FA5}">
                      <a16:colId xmlns:a16="http://schemas.microsoft.com/office/drawing/2014/main" val="2680632660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Hypothesis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Metric</a:t>
                      </a:r>
                      <a:r>
                        <a:rPr lang="de-DE" sz="12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Result</a:t>
                      </a:r>
                      <a:endParaRPr lang="de-DE" sz="12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Observation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Implication</a:t>
                      </a:r>
                      <a:endParaRPr lang="de-DE" sz="12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6497323"/>
                  </a:ext>
                </a:extLst>
              </a:tr>
              <a:tr h="722463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Trip Size /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tipping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mechanics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kern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kern="12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 % </a:t>
                      </a:r>
                      <a:r>
                        <a:rPr lang="de-DE" sz="1100" kern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of</a:t>
                      </a:r>
                      <a:r>
                        <a:rPr lang="de-DE" sz="1100" kern="12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kern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fare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Confirmed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(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measurement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effect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metrics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change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strongly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with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fare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size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;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low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fares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behave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non-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linearly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Control for fare bins before comparing contexts.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3108132"/>
                  </a:ext>
                </a:extLst>
              </a:tr>
              <a:tr h="888521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Stress /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Friction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prob.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Supported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As minutes-per-mile increases, tip probability declines (holds within fare buckets).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Friction mostly affects whether people tip, not the % when they do.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024112"/>
                  </a:ext>
                </a:extLst>
              </a:tr>
              <a:tr h="1123591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Airport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prob.(%) </a:t>
                      </a:r>
                      <a:b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</a:b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%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of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fare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Conditional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Overall looks flat/lower; within fare bins, airports often tip higher in mid/high fares.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Airport uplift is segment-specific, not universal.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01535"/>
                  </a:ext>
                </a:extLst>
              </a:tr>
              <a:tr h="1123591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BID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eposure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probability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(%) </a:t>
                      </a:r>
                      <a:b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</a:b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%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of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fare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Threshold, not dose-response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Main split is no exposure vs some exposure; more overlap doesn’t reliably add more.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BID is a context marker; “more overlap” isn’t a scalable lever.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7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42639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938327_TF78544816_Win32" id="{A86D2529-0102-4786-A7BE-258984D63721}" vid="{FE3B0FAD-7AD0-46AD-A4CD-14C47D9E5FB9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Moderne Konferenzpräsentation</Template>
  <TotalTime>0</TotalTime>
  <Words>700</Words>
  <Application>Microsoft Office PowerPoint</Application>
  <PresentationFormat>Breitbild</PresentationFormat>
  <Paragraphs>96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Arial</vt:lpstr>
      <vt:lpstr>Calibri</vt:lpstr>
      <vt:lpstr>Segoe UI Semibold</vt:lpstr>
      <vt:lpstr>Segoe UI Semilight</vt:lpstr>
      <vt:lpstr>Tisa Offc Serif Pro</vt:lpstr>
      <vt:lpstr>Univers Light</vt:lpstr>
      <vt:lpstr>Benutzerdefiniert</vt:lpstr>
      <vt:lpstr>NYC Yellow Taxi Tipping</vt:lpstr>
      <vt:lpstr>NYC Yellow Taxi trips: Data &amp; Scope</vt:lpstr>
      <vt:lpstr>NYC Yellow Taxi trips: Data &amp; Scope</vt:lpstr>
      <vt:lpstr>Analysis flow &amp; hypotheses Tipping mechanics  Hypothesis tests  Conclusion </vt:lpstr>
      <vt:lpstr>Let‘s Continue in Tableau </vt:lpstr>
      <vt:lpstr>Key Findings</vt:lpstr>
      <vt:lpstr>So what? Practical implications</vt:lpstr>
      <vt:lpstr>Resultstable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Paubandt</dc:creator>
  <cp:lastModifiedBy>Patrick Paubandt</cp:lastModifiedBy>
  <cp:revision>5</cp:revision>
  <dcterms:created xsi:type="dcterms:W3CDTF">2026-02-22T10:25:59Z</dcterms:created>
  <dcterms:modified xsi:type="dcterms:W3CDTF">2026-02-23T16:35:59Z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